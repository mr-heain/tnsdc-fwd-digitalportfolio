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69200" cy="10699750"/>
  <p:notesSz cx="75692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1369" y="5085714"/>
            <a:ext cx="6402705" cy="20320"/>
            <a:chOff x="801369" y="5085714"/>
            <a:chExt cx="6402705" cy="20320"/>
          </a:xfrm>
        </p:grpSpPr>
        <p:sp>
          <p:nvSpPr>
            <p:cNvPr id="3" name="object 3" descr=""/>
            <p:cNvSpPr/>
            <p:nvPr/>
          </p:nvSpPr>
          <p:spPr>
            <a:xfrm>
              <a:off x="801370" y="508571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200899" y="50862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01928" y="508623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200899" y="508927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01928" y="51029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01928" y="510299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61796" y="1150365"/>
            <a:ext cx="6435090" cy="4654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10185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Times New Roman"/>
                <a:cs typeface="Times New Roman"/>
              </a:rPr>
              <a:t>FRONT-</a:t>
            </a:r>
            <a:r>
              <a:rPr dirty="0" sz="1600" b="1">
                <a:latin typeface="Times New Roman"/>
                <a:cs typeface="Times New Roman"/>
              </a:rPr>
              <a:t>END</a:t>
            </a:r>
            <a:r>
              <a:rPr dirty="0" sz="1600" spc="5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DEVELOPMENT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R="211454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ASSIGNMENT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2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TEMPLATE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6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STUDENT</a:t>
            </a:r>
            <a:r>
              <a:rPr dirty="0" sz="1200" spc="-10" b="1">
                <a:latin typeface="Times New Roman"/>
                <a:cs typeface="Times New Roman"/>
              </a:rPr>
              <a:t> NAME: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dirty="0" sz="1200" spc="-10" b="1">
                <a:latin typeface="Times New Roman"/>
                <a:cs typeface="Times New Roman"/>
              </a:rPr>
              <a:t>YEAR: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40"/>
              </a:spcBef>
            </a:pPr>
            <a:r>
              <a:rPr dirty="0" sz="1200" b="1">
                <a:latin typeface="Times New Roman"/>
                <a:cs typeface="Times New Roman"/>
              </a:rPr>
              <a:t>COLLEGE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CODE: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dirty="0" sz="1200" b="1">
                <a:latin typeface="Times New Roman"/>
                <a:cs typeface="Times New Roman"/>
              </a:rPr>
              <a:t>COLLEGE</a:t>
            </a:r>
            <a:r>
              <a:rPr dirty="0" sz="1200" spc="-20" b="1">
                <a:latin typeface="Times New Roman"/>
                <a:cs typeface="Times New Roman"/>
              </a:rPr>
              <a:t> NAME: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50"/>
              </a:spcBef>
            </a:pPr>
            <a:r>
              <a:rPr dirty="0" sz="1200" spc="-10" b="1">
                <a:latin typeface="Times New Roman"/>
                <a:cs typeface="Times New Roman"/>
              </a:rPr>
              <a:t>DEPARTMENT: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925"/>
              </a:spcBef>
            </a:pPr>
            <a:r>
              <a:rPr dirty="0" sz="1200" spc="-10" b="1">
                <a:latin typeface="Times New Roman"/>
                <a:cs typeface="Times New Roman"/>
              </a:rPr>
              <a:t>SEMESTER: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935"/>
              </a:spcBef>
            </a:pPr>
            <a:r>
              <a:rPr dirty="0" sz="1200" b="1">
                <a:latin typeface="Times New Roman"/>
                <a:cs typeface="Times New Roman"/>
              </a:rPr>
              <a:t>ROLL </a:t>
            </a:r>
            <a:r>
              <a:rPr dirty="0" sz="1200" spc="-25" b="1">
                <a:latin typeface="Times New Roman"/>
                <a:cs typeface="Times New Roman"/>
              </a:rPr>
              <a:t>NO: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25"/>
              </a:spcBef>
            </a:pPr>
            <a:r>
              <a:rPr dirty="0" sz="1200" spc="-10" b="1">
                <a:latin typeface="Times New Roman"/>
                <a:cs typeface="Times New Roman"/>
              </a:rPr>
              <a:t>NMID: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35"/>
              </a:spcBef>
            </a:pPr>
            <a:r>
              <a:rPr dirty="0" sz="1200" spc="-10" b="1">
                <a:latin typeface="Times New Roman"/>
                <a:cs typeface="Times New Roman"/>
              </a:rPr>
              <a:t>DATE: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latin typeface="Times New Roman"/>
                <a:cs typeface="Times New Roman"/>
              </a:rPr>
              <a:t>PROJECT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TITLE: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1.</a:t>
            </a:r>
            <a:r>
              <a:rPr dirty="0" sz="1400" spc="-2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Problem</a:t>
            </a:r>
            <a:r>
              <a:rPr dirty="0" sz="1400" spc="-20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Statement:</a:t>
            </a:r>
            <a:endParaRPr sz="1400">
              <a:latin typeface="Times New Roman"/>
              <a:cs typeface="Times New Roman"/>
            </a:endParaRPr>
          </a:p>
          <a:p>
            <a:pPr marL="137160" marR="5080">
              <a:lnSpc>
                <a:spcPts val="1380"/>
              </a:lnSpc>
              <a:spcBef>
                <a:spcPts val="840"/>
              </a:spcBef>
            </a:pPr>
            <a:r>
              <a:rPr dirty="0" sz="1200" i="1">
                <a:latin typeface="Times New Roman"/>
                <a:cs typeface="Times New Roman"/>
              </a:rPr>
              <a:t>(This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section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explains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need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improve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visual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appearance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event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registration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page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created </a:t>
            </a:r>
            <a:r>
              <a:rPr dirty="0" sz="1200" i="1">
                <a:latin typeface="Times New Roman"/>
                <a:cs typeface="Times New Roman"/>
              </a:rPr>
              <a:t>in</a:t>
            </a:r>
            <a:r>
              <a:rPr dirty="0" sz="1200" spc="-10" i="1">
                <a:latin typeface="Times New Roman"/>
                <a:cs typeface="Times New Roman"/>
              </a:rPr>
              <a:t> Assignment-</a:t>
            </a:r>
            <a:r>
              <a:rPr dirty="0" sz="1200" i="1">
                <a:latin typeface="Times New Roman"/>
                <a:cs typeface="Times New Roman"/>
              </a:rPr>
              <a:t>1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CSS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better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layout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user</a:t>
            </a:r>
            <a:r>
              <a:rPr dirty="0" sz="1200" spc="-10" i="1">
                <a:latin typeface="Times New Roman"/>
                <a:cs typeface="Times New Roman"/>
              </a:rPr>
              <a:t> experience.)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08990" y="6028689"/>
            <a:ext cx="6395085" cy="20955"/>
            <a:chOff x="808990" y="6028689"/>
            <a:chExt cx="6395085" cy="20955"/>
          </a:xfrm>
        </p:grpSpPr>
        <p:sp>
          <p:nvSpPr>
            <p:cNvPr id="11" name="object 11" descr=""/>
            <p:cNvSpPr/>
            <p:nvPr/>
          </p:nvSpPr>
          <p:spPr>
            <a:xfrm>
              <a:off x="808990" y="6028689"/>
              <a:ext cx="6393180" cy="20320"/>
            </a:xfrm>
            <a:custGeom>
              <a:avLst/>
              <a:gdLst/>
              <a:ahLst/>
              <a:cxnLst/>
              <a:rect l="l" t="t" r="r" b="b"/>
              <a:pathLst>
                <a:path w="6393180" h="20320">
                  <a:moveTo>
                    <a:pt x="639318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393180" y="20320"/>
                  </a:lnTo>
                  <a:lnTo>
                    <a:pt x="639318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200899" y="602983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9548" y="6029832"/>
              <a:ext cx="6394450" cy="17145"/>
            </a:xfrm>
            <a:custGeom>
              <a:avLst/>
              <a:gdLst/>
              <a:ahLst/>
              <a:cxnLst/>
              <a:rect l="l" t="t" r="r" b="b"/>
              <a:pathLst>
                <a:path w="639445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394450" h="17145">
                  <a:moveTo>
                    <a:pt x="6394386" y="0"/>
                  </a:moveTo>
                  <a:lnTo>
                    <a:pt x="6391351" y="0"/>
                  </a:lnTo>
                  <a:lnTo>
                    <a:pt x="6391351" y="3048"/>
                  </a:lnTo>
                  <a:lnTo>
                    <a:pt x="6394386" y="3048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200899" y="603288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09548" y="604659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9548" y="6046609"/>
              <a:ext cx="6394450" cy="3175"/>
            </a:xfrm>
            <a:custGeom>
              <a:avLst/>
              <a:gdLst/>
              <a:ahLst/>
              <a:cxnLst/>
              <a:rect l="l" t="t" r="r" b="b"/>
              <a:pathLst>
                <a:path w="6394450" h="3175">
                  <a:moveTo>
                    <a:pt x="6394386" y="0"/>
                  </a:moveTo>
                  <a:lnTo>
                    <a:pt x="639140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1351" y="3035"/>
                  </a:lnTo>
                  <a:lnTo>
                    <a:pt x="6394386" y="3035"/>
                  </a:lnTo>
                  <a:lnTo>
                    <a:pt x="639438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96848" y="6265544"/>
            <a:ext cx="6289040" cy="7162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2.</a:t>
            </a:r>
            <a:r>
              <a:rPr dirty="0" sz="1400" spc="-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Objective: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1025"/>
              </a:spcBef>
            </a:pPr>
            <a:r>
              <a:rPr dirty="0" sz="1200" i="1">
                <a:latin typeface="Times New Roman"/>
                <a:cs typeface="Times New Roman"/>
              </a:rPr>
              <a:t>(This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section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describes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goal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assignment,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which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apply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CSS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styling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transform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basic </a:t>
            </a:r>
            <a:r>
              <a:rPr dirty="0" sz="1200" i="1">
                <a:latin typeface="Times New Roman"/>
                <a:cs typeface="Times New Roman"/>
              </a:rPr>
              <a:t>HTML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page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into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clean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professional-</a:t>
            </a:r>
            <a:r>
              <a:rPr dirty="0" sz="1200" i="1">
                <a:latin typeface="Times New Roman"/>
                <a:cs typeface="Times New Roman"/>
              </a:rPr>
              <a:t>looking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interface.)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01369" y="7414259"/>
            <a:ext cx="6402705" cy="20955"/>
            <a:chOff x="801369" y="7414259"/>
            <a:chExt cx="6402705" cy="20955"/>
          </a:xfrm>
        </p:grpSpPr>
        <p:sp>
          <p:nvSpPr>
            <p:cNvPr id="19" name="object 19" descr=""/>
            <p:cNvSpPr/>
            <p:nvPr/>
          </p:nvSpPr>
          <p:spPr>
            <a:xfrm>
              <a:off x="801370" y="741425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200899" y="741514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01928" y="741516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00899" y="741819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01928" y="74319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01928" y="7431925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92276" y="7486810"/>
            <a:ext cx="6338570" cy="13938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46050" indent="-136525">
              <a:lnSpc>
                <a:spcPct val="100000"/>
              </a:lnSpc>
              <a:spcBef>
                <a:spcPts val="745"/>
              </a:spcBef>
              <a:buSzPct val="92857"/>
              <a:buAutoNum type="arabicPeriod" startAt="3"/>
              <a:tabLst>
                <a:tab pos="146050" algn="l"/>
              </a:tabLst>
            </a:pP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Requirements:</a:t>
            </a:r>
            <a:endParaRPr sz="14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550"/>
              </a:spcBef>
            </a:pPr>
            <a:r>
              <a:rPr dirty="0" sz="1200" i="1">
                <a:latin typeface="Times New Roman"/>
                <a:cs typeface="Times New Roman"/>
              </a:rPr>
              <a:t>(This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section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lists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all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styling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tasks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that</a:t>
            </a:r>
            <a:r>
              <a:rPr dirty="0" sz="1200" spc="-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must</a:t>
            </a:r>
            <a:r>
              <a:rPr dirty="0" sz="1200" spc="-1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be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implemented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CSS.)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260350" indent="-246379">
              <a:lnSpc>
                <a:spcPct val="100000"/>
              </a:lnSpc>
              <a:buAutoNum type="arabicPeriod"/>
              <a:tabLst>
                <a:tab pos="260350" algn="l"/>
              </a:tabLst>
            </a:pPr>
            <a:r>
              <a:rPr dirty="0" sz="1300" b="1">
                <a:latin typeface="Times New Roman"/>
                <a:cs typeface="Times New Roman"/>
              </a:rPr>
              <a:t>Apply</a:t>
            </a:r>
            <a:r>
              <a:rPr dirty="0" sz="1300" spc="-4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Global</a:t>
            </a:r>
            <a:r>
              <a:rPr dirty="0" sz="1300" spc="-4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Styling:</a:t>
            </a:r>
            <a:endParaRPr sz="1300">
              <a:latin typeface="Times New Roman"/>
              <a:cs typeface="Times New Roman"/>
            </a:endParaRPr>
          </a:p>
          <a:p>
            <a:pPr marL="106680" marR="5080">
              <a:lnSpc>
                <a:spcPts val="1380"/>
              </a:lnSpc>
              <a:spcBef>
                <a:spcPts val="425"/>
              </a:spcBef>
            </a:pPr>
            <a:r>
              <a:rPr dirty="0" sz="1200" i="1">
                <a:latin typeface="Times New Roman"/>
                <a:cs typeface="Times New Roman"/>
              </a:rPr>
              <a:t>(Apply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overall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styles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entire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webpage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including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background,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font,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spacing,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text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alignment</a:t>
            </a:r>
            <a:r>
              <a:rPr dirty="0" sz="1200" spc="-25" i="1">
                <a:latin typeface="Times New Roman"/>
                <a:cs typeface="Times New Roman"/>
              </a:rPr>
              <a:t> to </a:t>
            </a:r>
            <a:r>
              <a:rPr dirty="0" sz="1200" i="1">
                <a:latin typeface="Times New Roman"/>
                <a:cs typeface="Times New Roman"/>
              </a:rPr>
              <a:t>ensure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consistent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design.)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806450" y="9338944"/>
            <a:ext cx="6399530" cy="21590"/>
            <a:chOff x="806450" y="9338944"/>
            <a:chExt cx="6399530" cy="21590"/>
          </a:xfrm>
        </p:grpSpPr>
        <p:sp>
          <p:nvSpPr>
            <p:cNvPr id="27" name="object 27" descr=""/>
            <p:cNvSpPr/>
            <p:nvPr/>
          </p:nvSpPr>
          <p:spPr>
            <a:xfrm>
              <a:off x="806450" y="9338944"/>
              <a:ext cx="6397625" cy="19685"/>
            </a:xfrm>
            <a:custGeom>
              <a:avLst/>
              <a:gdLst/>
              <a:ahLst/>
              <a:cxnLst/>
              <a:rect l="l" t="t" r="r" b="b"/>
              <a:pathLst>
                <a:path w="6397625" h="19684">
                  <a:moveTo>
                    <a:pt x="6397625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397625" y="19685"/>
                  </a:lnTo>
                  <a:lnTo>
                    <a:pt x="639762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202423" y="93403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06500" y="9340354"/>
              <a:ext cx="6399530" cy="17145"/>
            </a:xfrm>
            <a:custGeom>
              <a:avLst/>
              <a:gdLst/>
              <a:ahLst/>
              <a:cxnLst/>
              <a:rect l="l" t="t" r="r" b="b"/>
              <a:pathLst>
                <a:path w="639953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399530" h="17145">
                  <a:moveTo>
                    <a:pt x="6398958" y="0"/>
                  </a:moveTo>
                  <a:lnTo>
                    <a:pt x="6395923" y="0"/>
                  </a:lnTo>
                  <a:lnTo>
                    <a:pt x="6395923" y="3035"/>
                  </a:lnTo>
                  <a:lnTo>
                    <a:pt x="6398958" y="3035"/>
                  </a:lnTo>
                  <a:lnTo>
                    <a:pt x="639895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02423" y="934338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06500" y="935710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06500" y="9357118"/>
              <a:ext cx="6399530" cy="3175"/>
            </a:xfrm>
            <a:custGeom>
              <a:avLst/>
              <a:gdLst/>
              <a:ahLst/>
              <a:cxnLst/>
              <a:rect l="l" t="t" r="r" b="b"/>
              <a:pathLst>
                <a:path w="6399530" h="3175">
                  <a:moveTo>
                    <a:pt x="6398958" y="0"/>
                  </a:moveTo>
                  <a:lnTo>
                    <a:pt x="6395974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5923" y="3035"/>
                  </a:lnTo>
                  <a:lnTo>
                    <a:pt x="6398958" y="3035"/>
                  </a:lnTo>
                  <a:lnTo>
                    <a:pt x="639895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7150" y="428624"/>
            <a:ext cx="1268095" cy="57124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675" y="528319"/>
            <a:ext cx="1495933" cy="370204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7550" y="514349"/>
            <a:ext cx="1074407" cy="401954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64025" y="495337"/>
            <a:ext cx="996314" cy="434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8470" y="495337"/>
            <a:ext cx="996314" cy="4341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3275" y="514349"/>
            <a:ext cx="1074407" cy="40195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6425" y="9873589"/>
            <a:ext cx="996314" cy="4341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73988" y="1123555"/>
            <a:ext cx="6075045" cy="6680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300" b="1">
                <a:latin typeface="Times New Roman"/>
                <a:cs typeface="Times New Roman"/>
              </a:rPr>
              <a:t>3.2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Style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the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Event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Title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and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Description:</a:t>
            </a:r>
            <a:endParaRPr sz="1300">
              <a:latin typeface="Times New Roman"/>
              <a:cs typeface="Times New Roman"/>
            </a:endParaRPr>
          </a:p>
          <a:p>
            <a:pPr marL="73025" marR="5080">
              <a:lnSpc>
                <a:spcPts val="1380"/>
              </a:lnSpc>
              <a:spcBef>
                <a:spcPts val="425"/>
              </a:spcBef>
            </a:pPr>
            <a:r>
              <a:rPr dirty="0" sz="1200" i="1">
                <a:latin typeface="Times New Roman"/>
                <a:cs typeface="Times New Roman"/>
              </a:rPr>
              <a:t>(Enhance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appearance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event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heading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description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font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size,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color,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spacing,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25" i="1">
                <a:latin typeface="Times New Roman"/>
                <a:cs typeface="Times New Roman"/>
              </a:rPr>
              <a:t>and </a:t>
            </a:r>
            <a:r>
              <a:rPr dirty="0" sz="1200" i="1">
                <a:latin typeface="Times New Roman"/>
                <a:cs typeface="Times New Roman"/>
              </a:rPr>
              <a:t>alignment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make</a:t>
            </a:r>
            <a:r>
              <a:rPr dirty="0" sz="1200" spc="-4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them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visually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prominent.)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01369" y="2273934"/>
            <a:ext cx="6402705" cy="20320"/>
            <a:chOff x="801369" y="2273934"/>
            <a:chExt cx="6402705" cy="20320"/>
          </a:xfrm>
        </p:grpSpPr>
        <p:sp>
          <p:nvSpPr>
            <p:cNvPr id="7" name="object 7" descr=""/>
            <p:cNvSpPr/>
            <p:nvPr/>
          </p:nvSpPr>
          <p:spPr>
            <a:xfrm>
              <a:off x="801370" y="227393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00899" y="227406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01928" y="227406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00899" y="227710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01928" y="22908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01928" y="2290825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89228" y="2532633"/>
            <a:ext cx="6373495" cy="723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3.3.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Design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the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Event </a:t>
            </a:r>
            <a:r>
              <a:rPr dirty="0" sz="1300" spc="-10" b="1">
                <a:latin typeface="Times New Roman"/>
                <a:cs typeface="Times New Roman"/>
              </a:rPr>
              <a:t>Information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Section</a:t>
            </a:r>
            <a:endParaRPr sz="1300">
              <a:latin typeface="Times New Roman"/>
              <a:cs typeface="Times New Roman"/>
            </a:endParaRPr>
          </a:p>
          <a:p>
            <a:pPr marL="20320" marR="5080">
              <a:lnSpc>
                <a:spcPts val="1380"/>
              </a:lnSpc>
              <a:spcBef>
                <a:spcPts val="1215"/>
              </a:spcBef>
            </a:pPr>
            <a:r>
              <a:rPr dirty="0" sz="1200">
                <a:latin typeface="Times New Roman"/>
                <a:cs typeface="Times New Roman"/>
              </a:rPr>
              <a:t>(</a:t>
            </a:r>
            <a:r>
              <a:rPr dirty="0" sz="1200" i="1">
                <a:latin typeface="Times New Roman"/>
                <a:cs typeface="Times New Roman"/>
              </a:rPr>
              <a:t>Improve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layout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readability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event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details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section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borders,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spacing,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background </a:t>
            </a:r>
            <a:r>
              <a:rPr dirty="0" sz="1200" i="1">
                <a:latin typeface="Times New Roman"/>
                <a:cs typeface="Times New Roman"/>
              </a:rPr>
              <a:t>colors,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proper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alignment.</a:t>
            </a:r>
            <a:r>
              <a:rPr dirty="0" sz="1200" spc="-1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01369" y="3702049"/>
            <a:ext cx="6402705" cy="20320"/>
            <a:chOff x="801369" y="3702049"/>
            <a:chExt cx="6402705" cy="20320"/>
          </a:xfrm>
        </p:grpSpPr>
        <p:sp>
          <p:nvSpPr>
            <p:cNvPr id="15" name="object 15" descr=""/>
            <p:cNvSpPr/>
            <p:nvPr/>
          </p:nvSpPr>
          <p:spPr>
            <a:xfrm>
              <a:off x="801370" y="370204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00899" y="370243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1928" y="3702442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00899" y="370547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1928" y="371919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01928" y="371919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89228" y="3915904"/>
            <a:ext cx="6282690" cy="6680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300" b="1">
                <a:latin typeface="Times New Roman"/>
                <a:cs typeface="Times New Roman"/>
              </a:rPr>
              <a:t>3.4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Enhance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the</a:t>
            </a:r>
            <a:r>
              <a:rPr dirty="0" sz="1300" spc="-10" b="1">
                <a:latin typeface="Times New Roman"/>
                <a:cs typeface="Times New Roman"/>
              </a:rPr>
              <a:t> Registration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Form</a:t>
            </a:r>
            <a:r>
              <a:rPr dirty="0" sz="1300" spc="-10" b="1">
                <a:latin typeface="Times New Roman"/>
                <a:cs typeface="Times New Roman"/>
              </a:rPr>
              <a:t> Layout:</a:t>
            </a:r>
            <a:endParaRPr sz="1300">
              <a:latin typeface="Times New Roman"/>
              <a:cs typeface="Times New Roman"/>
            </a:endParaRPr>
          </a:p>
          <a:p>
            <a:pPr marL="109855" marR="5080">
              <a:lnSpc>
                <a:spcPts val="1380"/>
              </a:lnSpc>
              <a:spcBef>
                <a:spcPts val="425"/>
              </a:spcBef>
            </a:pPr>
            <a:r>
              <a:rPr dirty="0" sz="1200" i="1">
                <a:latin typeface="Times New Roman"/>
                <a:cs typeface="Times New Roman"/>
              </a:rPr>
              <a:t>(Style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registration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card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layout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with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borders,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padding,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rounded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corners,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shadow </a:t>
            </a:r>
            <a:r>
              <a:rPr dirty="0" sz="1200" i="1">
                <a:latin typeface="Times New Roman"/>
                <a:cs typeface="Times New Roman"/>
              </a:rPr>
              <a:t>effects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improve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presentation.)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01369" y="5018404"/>
            <a:ext cx="6402705" cy="20955"/>
            <a:chOff x="801369" y="5018404"/>
            <a:chExt cx="6402705" cy="20955"/>
          </a:xfrm>
        </p:grpSpPr>
        <p:sp>
          <p:nvSpPr>
            <p:cNvPr id="23" name="object 23" descr=""/>
            <p:cNvSpPr/>
            <p:nvPr/>
          </p:nvSpPr>
          <p:spPr>
            <a:xfrm>
              <a:off x="801370" y="5018404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00899" y="50191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01928" y="5019178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200899" y="502221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01928" y="503593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01928" y="5035942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796848" y="5174106"/>
            <a:ext cx="6315710" cy="699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3.5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Style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Fieldsets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and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Legends: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025"/>
              </a:spcBef>
            </a:pPr>
            <a:r>
              <a:rPr dirty="0" sz="1200" i="1">
                <a:latin typeface="Times New Roman"/>
                <a:cs typeface="Times New Roman"/>
              </a:rPr>
              <a:t>(Improve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appearance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fieldsets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legends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borders,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spacing,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background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highlights,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bold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text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styling.)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801369" y="6179819"/>
            <a:ext cx="6402705" cy="20955"/>
            <a:chOff x="801369" y="6179819"/>
            <a:chExt cx="6402705" cy="20955"/>
          </a:xfrm>
        </p:grpSpPr>
        <p:sp>
          <p:nvSpPr>
            <p:cNvPr id="31" name="object 31" descr=""/>
            <p:cNvSpPr/>
            <p:nvPr/>
          </p:nvSpPr>
          <p:spPr>
            <a:xfrm>
              <a:off x="801370" y="617981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200899" y="618070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01928" y="6180708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200899" y="618375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01928" y="619747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01928" y="6197485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773988" y="6497192"/>
            <a:ext cx="6221095" cy="701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3.6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Improve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Input</a:t>
            </a:r>
            <a:r>
              <a:rPr dirty="0" sz="1300" spc="-1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Elements:</a:t>
            </a:r>
            <a:endParaRPr sz="1300">
              <a:latin typeface="Times New Roman"/>
              <a:cs typeface="Times New Roman"/>
            </a:endParaRPr>
          </a:p>
          <a:p>
            <a:pPr marL="125095" marR="5080">
              <a:lnSpc>
                <a:spcPts val="1380"/>
              </a:lnSpc>
              <a:spcBef>
                <a:spcPts val="1035"/>
              </a:spcBef>
            </a:pPr>
            <a:r>
              <a:rPr dirty="0" sz="1200" i="1">
                <a:latin typeface="Times New Roman"/>
                <a:cs typeface="Times New Roman"/>
              </a:rPr>
              <a:t>(Apply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consistent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styling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textboxes,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dropdowns,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radio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buttons,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checkboxes,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file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upload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fields,</a:t>
            </a:r>
            <a:r>
              <a:rPr dirty="0" sz="1200" spc="-25" i="1">
                <a:latin typeface="Times New Roman"/>
                <a:cs typeface="Times New Roman"/>
              </a:rPr>
              <a:t> and </a:t>
            </a:r>
            <a:r>
              <a:rPr dirty="0" sz="1200" i="1">
                <a:latin typeface="Times New Roman"/>
                <a:cs typeface="Times New Roman"/>
              </a:rPr>
              <a:t>textarea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elements.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focus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effects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better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user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interaction.)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801369" y="7679689"/>
            <a:ext cx="6402705" cy="20955"/>
            <a:chOff x="801369" y="7679689"/>
            <a:chExt cx="6402705" cy="20955"/>
          </a:xfrm>
        </p:grpSpPr>
        <p:sp>
          <p:nvSpPr>
            <p:cNvPr id="39" name="object 39" descr=""/>
            <p:cNvSpPr/>
            <p:nvPr/>
          </p:nvSpPr>
          <p:spPr>
            <a:xfrm>
              <a:off x="801370" y="767968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200899" y="768032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01928" y="7680336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200899" y="768337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01928" y="769708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01928" y="7697100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773988" y="7837169"/>
            <a:ext cx="6390005" cy="725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3.7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Button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Styling:</a:t>
            </a:r>
            <a:endParaRPr sz="1300">
              <a:latin typeface="Times New Roman"/>
              <a:cs typeface="Times New Roman"/>
            </a:endParaRPr>
          </a:p>
          <a:p>
            <a:pPr marL="125095" marR="5080">
              <a:lnSpc>
                <a:spcPts val="1380"/>
              </a:lnSpc>
              <a:spcBef>
                <a:spcPts val="1225"/>
              </a:spcBef>
            </a:pPr>
            <a:r>
              <a:rPr dirty="0" sz="1200" i="1">
                <a:latin typeface="Times New Roman"/>
                <a:cs typeface="Times New Roman"/>
              </a:rPr>
              <a:t>(Design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attractive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Submit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Reset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buttons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background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colors,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padding,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hover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effects,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rounded </a:t>
            </a:r>
            <a:r>
              <a:rPr dirty="0" sz="1200" i="1">
                <a:latin typeface="Times New Roman"/>
                <a:cs typeface="Times New Roman"/>
              </a:rPr>
              <a:t>corners,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transitions.)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801369" y="9038589"/>
            <a:ext cx="6402705" cy="21590"/>
            <a:chOff x="801369" y="9038589"/>
            <a:chExt cx="6402705" cy="21590"/>
          </a:xfrm>
        </p:grpSpPr>
        <p:sp>
          <p:nvSpPr>
            <p:cNvPr id="47" name="object 47" descr=""/>
            <p:cNvSpPr/>
            <p:nvPr/>
          </p:nvSpPr>
          <p:spPr>
            <a:xfrm>
              <a:off x="801370" y="903858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200899" y="904011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01928" y="9040113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60"/>
                  </a:lnTo>
                  <a:lnTo>
                    <a:pt x="6402006" y="3060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200899" y="904316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01928" y="90568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01928" y="9056890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3" name="object 5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3259" y="342899"/>
            <a:ext cx="1495933" cy="370204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9550" y="342899"/>
            <a:ext cx="1004798" cy="566420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775" y="9845014"/>
            <a:ext cx="1495933" cy="370205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9550" y="9806914"/>
            <a:ext cx="1004798" cy="5664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3775" y="344169"/>
            <a:ext cx="1074407" cy="40195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96848" y="1293622"/>
            <a:ext cx="6082665" cy="699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3.8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Style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the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Participants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Table: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025"/>
              </a:spcBef>
            </a:pPr>
            <a:r>
              <a:rPr dirty="0" sz="1200" i="1">
                <a:latin typeface="Times New Roman"/>
                <a:cs typeface="Times New Roman"/>
              </a:rPr>
              <a:t>(Enhance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table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by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borders,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header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background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color,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alternate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row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styling,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hover </a:t>
            </a:r>
            <a:r>
              <a:rPr dirty="0" sz="1200" i="1">
                <a:latin typeface="Times New Roman"/>
                <a:cs typeface="Times New Roman"/>
              </a:rPr>
              <a:t>effects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better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readability.)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01369" y="2552699"/>
            <a:ext cx="6402705" cy="20320"/>
            <a:chOff x="801369" y="2552699"/>
            <a:chExt cx="6402705" cy="20320"/>
          </a:xfrm>
        </p:grpSpPr>
        <p:sp>
          <p:nvSpPr>
            <p:cNvPr id="5" name="object 5" descr=""/>
            <p:cNvSpPr/>
            <p:nvPr/>
          </p:nvSpPr>
          <p:spPr>
            <a:xfrm>
              <a:off x="801370" y="255269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200899" y="25529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01928" y="2552953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200899" y="255600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01928" y="256971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01928" y="2569717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96848" y="2710941"/>
            <a:ext cx="6006465" cy="699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3.9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Style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the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Declaration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Section: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025"/>
              </a:spcBef>
            </a:pPr>
            <a:r>
              <a:rPr dirty="0" sz="1200" i="1">
                <a:latin typeface="Times New Roman"/>
                <a:cs typeface="Times New Roman"/>
              </a:rPr>
              <a:t>(Align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declaration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checkbox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properly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add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spacing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make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clear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but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visually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balanced </a:t>
            </a:r>
            <a:r>
              <a:rPr dirty="0" sz="1200" i="1">
                <a:latin typeface="Times New Roman"/>
                <a:cs typeface="Times New Roman"/>
              </a:rPr>
              <a:t>within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form.)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801369" y="3790314"/>
            <a:ext cx="6402705" cy="20320"/>
            <a:chOff x="801369" y="3790314"/>
            <a:chExt cx="6402705" cy="20320"/>
          </a:xfrm>
        </p:grpSpPr>
        <p:sp>
          <p:nvSpPr>
            <p:cNvPr id="13" name="object 13" descr=""/>
            <p:cNvSpPr/>
            <p:nvPr/>
          </p:nvSpPr>
          <p:spPr>
            <a:xfrm>
              <a:off x="801370" y="3790327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6400800" y="1967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200899" y="37908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01928" y="379083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00899" y="379387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1928" y="38075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1928" y="3807599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96848" y="4067682"/>
            <a:ext cx="6082030" cy="725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Times New Roman"/>
                <a:cs typeface="Times New Roman"/>
              </a:rPr>
              <a:t>3.10</a:t>
            </a:r>
            <a:r>
              <a:rPr dirty="0" sz="1300" spc="-3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Footer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Design:</a:t>
            </a:r>
            <a:endParaRPr sz="1300">
              <a:latin typeface="Times New Roman"/>
              <a:cs typeface="Times New Roman"/>
            </a:endParaRPr>
          </a:p>
          <a:p>
            <a:pPr marL="102235" marR="5080">
              <a:lnSpc>
                <a:spcPts val="1380"/>
              </a:lnSpc>
              <a:spcBef>
                <a:spcPts val="1230"/>
              </a:spcBef>
            </a:pPr>
            <a:r>
              <a:rPr dirty="0" sz="1200" i="1">
                <a:latin typeface="Times New Roman"/>
                <a:cs typeface="Times New Roman"/>
              </a:rPr>
              <a:t>(Style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footer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with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background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color,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center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alignment,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padding,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proper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spacing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clearly </a:t>
            </a:r>
            <a:r>
              <a:rPr dirty="0" sz="1200" i="1">
                <a:latin typeface="Times New Roman"/>
                <a:cs typeface="Times New Roman"/>
              </a:rPr>
              <a:t>display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contact</a:t>
            </a:r>
            <a:r>
              <a:rPr dirty="0" sz="1200" spc="-4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information.)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01369" y="5076189"/>
            <a:ext cx="6402705" cy="20955"/>
            <a:chOff x="801369" y="5076189"/>
            <a:chExt cx="6402705" cy="20955"/>
          </a:xfrm>
        </p:grpSpPr>
        <p:sp>
          <p:nvSpPr>
            <p:cNvPr id="21" name="object 21" descr=""/>
            <p:cNvSpPr/>
            <p:nvPr/>
          </p:nvSpPr>
          <p:spPr>
            <a:xfrm>
              <a:off x="801370" y="5076189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6400800" y="2032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00899" y="507707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01928" y="5077091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00899" y="508012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01928" y="509384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01928" y="5093855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92276" y="5409056"/>
            <a:ext cx="6102350" cy="717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4.CSS</a:t>
            </a:r>
            <a:r>
              <a:rPr dirty="0" sz="1400" spc="-2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Concepts</a:t>
            </a:r>
            <a:r>
              <a:rPr dirty="0" sz="1400" spc="-40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3B78D7"/>
                </a:solidFill>
                <a:latin typeface="Times New Roman"/>
                <a:cs typeface="Times New Roman"/>
              </a:rPr>
              <a:t>Used:</a:t>
            </a:r>
            <a:endParaRPr sz="1400">
              <a:latin typeface="Times New Roman"/>
              <a:cs typeface="Times New Roman"/>
            </a:endParaRPr>
          </a:p>
          <a:p>
            <a:pPr marL="17145" marR="5080" indent="38100">
              <a:lnSpc>
                <a:spcPts val="1390"/>
              </a:lnSpc>
              <a:spcBef>
                <a:spcPts val="1015"/>
              </a:spcBef>
            </a:pPr>
            <a:r>
              <a:rPr dirty="0" sz="1200" i="1">
                <a:latin typeface="Times New Roman"/>
                <a:cs typeface="Times New Roman"/>
              </a:rPr>
              <a:t>(Mention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CSS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concepts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applied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project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such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selectors,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box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model,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colors,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typography, </a:t>
            </a:r>
            <a:r>
              <a:rPr dirty="0" sz="1200" i="1">
                <a:latin typeface="Times New Roman"/>
                <a:cs typeface="Times New Roman"/>
              </a:rPr>
              <a:t>spacing,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borders,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shadows,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hover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effects,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table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styling.)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801369" y="6544309"/>
            <a:ext cx="6402705" cy="20955"/>
            <a:chOff x="801369" y="6544309"/>
            <a:chExt cx="6402705" cy="20955"/>
          </a:xfrm>
        </p:grpSpPr>
        <p:sp>
          <p:nvSpPr>
            <p:cNvPr id="29" name="object 29" descr=""/>
            <p:cNvSpPr/>
            <p:nvPr/>
          </p:nvSpPr>
          <p:spPr>
            <a:xfrm>
              <a:off x="801370" y="654430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00899" y="654494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01928" y="6544957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200899" y="6547992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01928" y="656170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01928" y="6561721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55700" y="6776084"/>
            <a:ext cx="5134610" cy="543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5.</a:t>
            </a:r>
            <a:r>
              <a:rPr dirty="0" sz="1400" spc="-3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Implementation</a:t>
            </a:r>
            <a:r>
              <a:rPr dirty="0" sz="1400" spc="-30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Steps: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200" i="1">
                <a:latin typeface="Times New Roman"/>
                <a:cs typeface="Times New Roman"/>
              </a:rPr>
              <a:t>(Explain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step-by-</a:t>
            </a:r>
            <a:r>
              <a:rPr dirty="0" sz="1200" i="1">
                <a:latin typeface="Times New Roman"/>
                <a:cs typeface="Times New Roman"/>
              </a:rPr>
              <a:t>step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process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followed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apply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CSS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styling</a:t>
            </a:r>
            <a:r>
              <a:rPr dirty="0" sz="12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HTML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page.)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801369" y="7750809"/>
            <a:ext cx="6402705" cy="20955"/>
            <a:chOff x="801369" y="7750809"/>
            <a:chExt cx="6402705" cy="20955"/>
          </a:xfrm>
        </p:grpSpPr>
        <p:sp>
          <p:nvSpPr>
            <p:cNvPr id="37" name="object 37" descr=""/>
            <p:cNvSpPr/>
            <p:nvPr/>
          </p:nvSpPr>
          <p:spPr>
            <a:xfrm>
              <a:off x="801370" y="7750822"/>
              <a:ext cx="6400800" cy="20320"/>
            </a:xfrm>
            <a:custGeom>
              <a:avLst/>
              <a:gdLst/>
              <a:ahLst/>
              <a:cxnLst/>
              <a:rect l="l" t="t" r="r" b="b"/>
              <a:pathLst>
                <a:path w="6400800" h="20320">
                  <a:moveTo>
                    <a:pt x="6400800" y="0"/>
                  </a:moveTo>
                  <a:lnTo>
                    <a:pt x="0" y="0"/>
                  </a:lnTo>
                  <a:lnTo>
                    <a:pt x="0" y="20307"/>
                  </a:lnTo>
                  <a:lnTo>
                    <a:pt x="6400800" y="20307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200899" y="775195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01928" y="7751965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200899" y="775500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01928" y="776871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01928" y="7768716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763320" y="8087105"/>
            <a:ext cx="6421120" cy="717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3B78D7"/>
                </a:solidFill>
                <a:latin typeface="Cambria"/>
                <a:cs typeface="Cambria"/>
              </a:rPr>
              <a:t>6.Output:</a:t>
            </a:r>
            <a:endParaRPr sz="1400">
              <a:latin typeface="Cambria"/>
              <a:cs typeface="Cambria"/>
            </a:endParaRPr>
          </a:p>
          <a:p>
            <a:pPr marL="45720" marR="5080">
              <a:lnSpc>
                <a:spcPts val="1380"/>
              </a:lnSpc>
              <a:spcBef>
                <a:spcPts val="1045"/>
              </a:spcBef>
            </a:pPr>
            <a:r>
              <a:rPr dirty="0" sz="1200" i="1">
                <a:latin typeface="Times New Roman"/>
                <a:cs typeface="Times New Roman"/>
              </a:rPr>
              <a:t>(Attach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screenshots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of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fully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styled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webpage,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including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form,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table,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footer,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demonstrate</a:t>
            </a:r>
            <a:r>
              <a:rPr dirty="0" sz="1200" spc="-25" i="1">
                <a:latin typeface="Times New Roman"/>
                <a:cs typeface="Times New Roman"/>
              </a:rPr>
              <a:t> the </a:t>
            </a:r>
            <a:r>
              <a:rPr dirty="0" sz="1200" i="1">
                <a:latin typeface="Times New Roman"/>
                <a:cs typeface="Times New Roman"/>
              </a:rPr>
              <a:t>final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output.)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801369" y="9223375"/>
            <a:ext cx="6402705" cy="20955"/>
            <a:chOff x="801369" y="9223375"/>
            <a:chExt cx="6402705" cy="20955"/>
          </a:xfrm>
        </p:grpSpPr>
        <p:sp>
          <p:nvSpPr>
            <p:cNvPr id="45" name="object 45" descr=""/>
            <p:cNvSpPr/>
            <p:nvPr/>
          </p:nvSpPr>
          <p:spPr>
            <a:xfrm>
              <a:off x="801370" y="9223387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4">
                  <a:moveTo>
                    <a:pt x="6400800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6400800" y="19672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200899" y="922451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01928" y="9224530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6402070" h="17145">
                  <a:moveTo>
                    <a:pt x="6402006" y="0"/>
                  </a:moveTo>
                  <a:lnTo>
                    <a:pt x="6398971" y="0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200899" y="922756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01928" y="924128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01928" y="9241294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398971" y="3035"/>
                  </a:lnTo>
                  <a:lnTo>
                    <a:pt x="6402006" y="3035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9475" y="361949"/>
            <a:ext cx="1074407" cy="40195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7325" y="342937"/>
            <a:ext cx="996314" cy="4341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90752" y="868425"/>
            <a:ext cx="6021705" cy="717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7.Learning</a:t>
            </a:r>
            <a:r>
              <a:rPr dirty="0" sz="1400" spc="-5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Outcome:</a:t>
            </a:r>
            <a:endParaRPr sz="1400">
              <a:latin typeface="Times New Roman"/>
              <a:cs typeface="Times New Roman"/>
            </a:endParaRPr>
          </a:p>
          <a:p>
            <a:pPr marL="108585" marR="5080">
              <a:lnSpc>
                <a:spcPts val="1390"/>
              </a:lnSpc>
              <a:spcBef>
                <a:spcPts val="1019"/>
              </a:spcBef>
            </a:pPr>
            <a:r>
              <a:rPr dirty="0" sz="1200" i="1">
                <a:latin typeface="Times New Roman"/>
                <a:cs typeface="Times New Roman"/>
              </a:rPr>
              <a:t>(Explain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skills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understanding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gained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about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CSS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styling,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layout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control,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and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presentation design.)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01369" y="2019299"/>
            <a:ext cx="6402705" cy="20320"/>
            <a:chOff x="801369" y="2019299"/>
            <a:chExt cx="6402705" cy="20320"/>
          </a:xfrm>
        </p:grpSpPr>
        <p:sp>
          <p:nvSpPr>
            <p:cNvPr id="6" name="object 6" descr=""/>
            <p:cNvSpPr/>
            <p:nvPr/>
          </p:nvSpPr>
          <p:spPr>
            <a:xfrm>
              <a:off x="801370" y="2019299"/>
              <a:ext cx="6400800" cy="19685"/>
            </a:xfrm>
            <a:custGeom>
              <a:avLst/>
              <a:gdLst/>
              <a:ahLst/>
              <a:cxnLst/>
              <a:rect l="l" t="t" r="r" b="b"/>
              <a:pathLst>
                <a:path w="6400800" h="19685">
                  <a:moveTo>
                    <a:pt x="6400800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6400800" y="1968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200899" y="201955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01928" y="2019553"/>
              <a:ext cx="6402070" cy="17145"/>
            </a:xfrm>
            <a:custGeom>
              <a:avLst/>
              <a:gdLst/>
              <a:ahLst/>
              <a:cxnLst/>
              <a:rect l="l" t="t" r="r" b="b"/>
              <a:pathLst>
                <a:path w="640207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6402070" h="17144">
                  <a:moveTo>
                    <a:pt x="6402006" y="0"/>
                  </a:moveTo>
                  <a:lnTo>
                    <a:pt x="6398971" y="0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200899" y="202260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01928" y="203631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01928" y="2036317"/>
              <a:ext cx="6402070" cy="3175"/>
            </a:xfrm>
            <a:custGeom>
              <a:avLst/>
              <a:gdLst/>
              <a:ahLst/>
              <a:cxnLst/>
              <a:rect l="l" t="t" r="r" b="b"/>
              <a:pathLst>
                <a:path w="6402070" h="3175">
                  <a:moveTo>
                    <a:pt x="6402006" y="0"/>
                  </a:moveTo>
                  <a:lnTo>
                    <a:pt x="63990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398971" y="3048"/>
                  </a:lnTo>
                  <a:lnTo>
                    <a:pt x="6402006" y="3048"/>
                  </a:lnTo>
                  <a:lnTo>
                    <a:pt x="640200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821232" y="2224785"/>
            <a:ext cx="6155690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B78D7"/>
                </a:solidFill>
                <a:latin typeface="Times New Roman"/>
                <a:cs typeface="Times New Roman"/>
              </a:rPr>
              <a:t>8.</a:t>
            </a:r>
            <a:r>
              <a:rPr dirty="0" sz="1400" spc="-5" b="1">
                <a:solidFill>
                  <a:srgbClr val="3B78D7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3B78D7"/>
                </a:solidFill>
                <a:latin typeface="Times New Roman"/>
                <a:cs typeface="Times New Roman"/>
              </a:rPr>
              <a:t>Conclusion:</a:t>
            </a:r>
            <a:endParaRPr sz="1400">
              <a:latin typeface="Times New Roman"/>
              <a:cs typeface="Times New Roman"/>
            </a:endParaRPr>
          </a:p>
          <a:p>
            <a:pPr marL="78105" marR="5080">
              <a:lnSpc>
                <a:spcPts val="1380"/>
              </a:lnSpc>
              <a:spcBef>
                <a:spcPts val="1235"/>
              </a:spcBef>
            </a:pPr>
            <a:r>
              <a:rPr dirty="0" sz="1200" i="1">
                <a:latin typeface="Times New Roman"/>
                <a:cs typeface="Times New Roman"/>
              </a:rPr>
              <a:t>(Summarize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how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the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HTML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page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was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successfully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enhanced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using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CSS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to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improve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appearance</a:t>
            </a:r>
            <a:r>
              <a:rPr dirty="0" sz="1200" spc="-25" i="1">
                <a:latin typeface="Times New Roman"/>
                <a:cs typeface="Times New Roman"/>
              </a:rPr>
              <a:t> and </a:t>
            </a:r>
            <a:r>
              <a:rPr dirty="0" sz="1200" i="1">
                <a:latin typeface="Times New Roman"/>
                <a:cs typeface="Times New Roman"/>
              </a:rPr>
              <a:t>user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10" i="1">
                <a:latin typeface="Times New Roman"/>
                <a:cs typeface="Times New Roman"/>
              </a:rPr>
              <a:t>experience.)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750" y="442594"/>
            <a:ext cx="1495933" cy="37020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3800" y="342899"/>
            <a:ext cx="1004798" cy="566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Senthur Siva Sakthivel C</dc:creator>
  <dcterms:created xsi:type="dcterms:W3CDTF">2026-03-04T05:00:29Z</dcterms:created>
  <dcterms:modified xsi:type="dcterms:W3CDTF">2026-03-04T05:00:29Z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2026-03-04T00:00:00Z</vt:filetime>
  </property>
  <property fmtid="{D5CDD505-2E9C-101B-9397-08002B2CF9AE}" pid="5" name="Producer">
    <vt:lpwstr>3-Heights(TM) PDF Security Shell 4.8.25.2 (http://www.pdf-tools.com)</vt:lpwstr>
  </property>
</Properties>
</file>