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8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70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4826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4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44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45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46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66700"/>
          </a:xfrm>
        </p:spPr>
        <p:txBody>
          <a:bodyPr bIns="0" lIns="0" rIns="0" tIns="0"/>
          <a:p/>
        </p:txBody>
      </p:sp>
      <p:sp>
        <p:nvSpPr>
          <p:cNvPr id="1048698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9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00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02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03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04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05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06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3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4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58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59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647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8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49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650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1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61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2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53" name="TextBox 13"/>
          <p:cNvSpPr txBox="1"/>
          <p:nvPr/>
        </p:nvSpPr>
        <p:spPr>
          <a:xfrm>
            <a:off x="1747837" y="2828924"/>
            <a:ext cx="8610600" cy="2225041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</a:t>
            </a:r>
            <a:r>
              <a:rPr b="1" dirty="0" sz="2400" lang="en-US"/>
              <a:t> </a:t>
            </a:r>
            <a:r>
              <a:rPr b="1" dirty="0" sz="2400" lang="en-US"/>
              <a:t>S</a:t>
            </a:r>
            <a:r>
              <a:rPr b="1" dirty="0" sz="2400" lang="en-US"/>
              <a:t> </a:t>
            </a:r>
            <a:r>
              <a:rPr b="1" dirty="0" sz="2400" lang="en-US"/>
              <a:t>H</a:t>
            </a:r>
            <a:r>
              <a:rPr b="1" dirty="0" sz="2400" lang="en-US"/>
              <a:t>A</a:t>
            </a:r>
            <a:r>
              <a:rPr b="1" dirty="0" sz="2400" lang="en-US"/>
              <a:t>R</a:t>
            </a:r>
            <a:r>
              <a:rPr b="1" dirty="0" sz="2400" lang="en-US"/>
              <a:t>I</a:t>
            </a:r>
            <a:r>
              <a:rPr b="1" dirty="0" sz="2400" lang="en-US"/>
              <a:t>H</a:t>
            </a:r>
            <a:r>
              <a:rPr b="1" dirty="0" sz="2400" lang="en-US"/>
              <a:t>A</a:t>
            </a:r>
            <a:r>
              <a:rPr b="1" dirty="0" sz="2400" lang="en-US"/>
              <a:t>R</a:t>
            </a:r>
            <a:r>
              <a:rPr b="1" dirty="0" sz="2400" lang="en-US"/>
              <a:t>A</a:t>
            </a:r>
            <a:r>
              <a:rPr b="1" dirty="0" sz="2400" lang="en-US"/>
              <a:t>N</a:t>
            </a:r>
            <a:endParaRPr altLang="en-US" b="1" sz="2000" lang="zh-CN"/>
          </a:p>
          <a:p>
            <a:r>
              <a:rPr dirty="0" sz="2400" lang="en-US"/>
              <a:t>REGISTER NO AND NMID:</a:t>
            </a:r>
            <a:r>
              <a:rPr b="1" dirty="0" sz="2400" lang="en-US"/>
              <a:t>autunm1455unmcsa06</a:t>
            </a:r>
            <a:r>
              <a:rPr dirty="0" sz="2400" lang="en-US"/>
              <a:t> </a:t>
            </a:r>
            <a:endParaRPr dirty="0" sz="20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b="1" dirty="0" sz="2400" lang="en-US"/>
              <a:t>B</a:t>
            </a:r>
            <a:r>
              <a:rPr b="1" dirty="0" sz="2400" lang="en-US"/>
              <a:t>S</a:t>
            </a:r>
            <a:r>
              <a:rPr b="1" dirty="0" sz="2400" lang="en-US"/>
              <a:t>C</a:t>
            </a:r>
            <a:r>
              <a:rPr b="1" dirty="0" sz="2400" lang="en-US"/>
              <a:t>(</a:t>
            </a:r>
            <a:r>
              <a:rPr b="1" dirty="0" sz="2400" lang="en-US"/>
              <a:t>C</a:t>
            </a:r>
            <a:r>
              <a:rPr b="1" dirty="0" sz="2400" lang="en-US"/>
              <a:t>O</a:t>
            </a:r>
            <a:r>
              <a:rPr b="1" dirty="0" sz="2400" lang="en-US"/>
              <a:t>M</a:t>
            </a:r>
            <a:r>
              <a:rPr b="1" dirty="0" sz="2400" lang="en-US"/>
              <a:t>P</a:t>
            </a:r>
            <a:r>
              <a:rPr b="1" dirty="0" sz="2400" lang="en-US"/>
              <a:t>U</a:t>
            </a:r>
            <a:r>
              <a:rPr b="1" dirty="0" sz="2400" lang="en-US"/>
              <a:t>T</a:t>
            </a:r>
            <a:r>
              <a:rPr b="1" dirty="0" sz="2400" lang="en-US"/>
              <a:t>E</a:t>
            </a:r>
            <a:r>
              <a:rPr b="1" dirty="0" sz="2400" lang="en-US"/>
              <a:t>R</a:t>
            </a:r>
            <a:r>
              <a:rPr b="1" dirty="0" sz="2400" lang="en-US"/>
              <a:t> </a:t>
            </a:r>
            <a:r>
              <a:rPr b="1" dirty="0" sz="2400" lang="en-US"/>
              <a:t>S</a:t>
            </a:r>
            <a:r>
              <a:rPr b="1" dirty="0" sz="2400" lang="en-US"/>
              <a:t>C</a:t>
            </a:r>
            <a:r>
              <a:rPr b="1" dirty="0" sz="2400" lang="en-US"/>
              <a:t>I</a:t>
            </a:r>
            <a:r>
              <a:rPr b="1" dirty="0" sz="2400" lang="en-US"/>
              <a:t>E</a:t>
            </a:r>
            <a:r>
              <a:rPr b="1" dirty="0" sz="2400" lang="en-US"/>
              <a:t>N</a:t>
            </a:r>
            <a:r>
              <a:rPr b="1" dirty="0" sz="2400" lang="en-US"/>
              <a:t>C</a:t>
            </a:r>
            <a:r>
              <a:rPr b="1" dirty="0" sz="2400" lang="en-US"/>
              <a:t>E</a:t>
            </a:r>
            <a:r>
              <a:rPr b="1" dirty="0" sz="2400" lang="en-US"/>
              <a:t>)</a:t>
            </a:r>
            <a:endParaRPr altLang="en-US" b="1" sz="2000" lang="zh-CN"/>
          </a:p>
          <a:p>
            <a:r>
              <a:rPr dirty="0" sz="2400" lang="en-US"/>
              <a:t>COLLEGE: </a:t>
            </a:r>
            <a:r>
              <a:rPr b="1" dirty="0" sz="2400" lang="en-US"/>
              <a:t>T</a:t>
            </a:r>
            <a:r>
              <a:rPr b="1" dirty="0" sz="2400" lang="en-US"/>
              <a:t>A</a:t>
            </a:r>
            <a:r>
              <a:rPr b="1" dirty="0" sz="2400" lang="en-US"/>
              <a:t>G</a:t>
            </a:r>
            <a:r>
              <a:rPr b="1" dirty="0" sz="2400" lang="en-US"/>
              <a:t>O</a:t>
            </a:r>
            <a:r>
              <a:rPr b="1" dirty="0" sz="2400" lang="en-US"/>
              <a:t>R</a:t>
            </a:r>
            <a:r>
              <a:rPr b="1" dirty="0" sz="2400" lang="en-US"/>
              <a:t>E</a:t>
            </a:r>
            <a:r>
              <a:rPr b="1" dirty="0" sz="2400" lang="en-US"/>
              <a:t> </a:t>
            </a:r>
            <a:r>
              <a:rPr b="1" dirty="0" sz="2400" lang="en-US"/>
              <a:t>C</a:t>
            </a:r>
            <a:r>
              <a:rPr b="1" dirty="0" sz="2400" lang="en-US"/>
              <a:t>O</a:t>
            </a:r>
            <a:r>
              <a:rPr b="1" dirty="0" sz="2400" lang="en-US"/>
              <a:t>L</a:t>
            </a:r>
            <a:r>
              <a:rPr b="1" dirty="0" sz="2400" lang="en-US"/>
              <a:t>L</a:t>
            </a:r>
            <a:r>
              <a:rPr b="1" dirty="0" sz="2400" lang="en-US"/>
              <a:t>E</a:t>
            </a:r>
            <a:r>
              <a:rPr b="1" dirty="0" sz="2400" lang="en-US"/>
              <a:t>G</a:t>
            </a:r>
            <a:r>
              <a:rPr b="1" dirty="0" sz="2400" lang="en-US"/>
              <a:t>E</a:t>
            </a:r>
            <a:r>
              <a:rPr b="1" dirty="0" sz="2400" lang="en-US"/>
              <a:t> </a:t>
            </a:r>
            <a:r>
              <a:rPr b="1" dirty="0" sz="2400" lang="en-US"/>
              <a:t>O</a:t>
            </a:r>
            <a:r>
              <a:rPr b="1" dirty="0" sz="2400" lang="en-US"/>
              <a:t>F</a:t>
            </a:r>
            <a:r>
              <a:rPr b="1" dirty="0" sz="2400" lang="en-US"/>
              <a:t> </a:t>
            </a:r>
            <a:r>
              <a:rPr b="1" dirty="0" sz="2400" lang="en-US"/>
              <a:t>A</a:t>
            </a:r>
            <a:r>
              <a:rPr b="1" dirty="0" sz="2400" lang="en-US"/>
              <a:t>R</a:t>
            </a:r>
            <a:r>
              <a:rPr b="1" dirty="0" sz="2400" lang="en-US"/>
              <a:t>T</a:t>
            </a:r>
            <a:r>
              <a:rPr b="1" dirty="0" sz="2400" lang="en-US"/>
              <a:t>S</a:t>
            </a:r>
            <a:r>
              <a:rPr b="1" dirty="0" sz="2400" lang="en-US"/>
              <a:t> </a:t>
            </a:r>
            <a:r>
              <a:rPr b="1" dirty="0" sz="2400" lang="en-US"/>
              <a:t>A</a:t>
            </a:r>
            <a:r>
              <a:rPr b="1" dirty="0" sz="2400" lang="en-US"/>
              <a:t>N</a:t>
            </a:r>
            <a:r>
              <a:rPr b="1" dirty="0" sz="2400" lang="en-US"/>
              <a:t>D</a:t>
            </a:r>
            <a:r>
              <a:rPr b="1" dirty="0" sz="2400" lang="en-US"/>
              <a:t> </a:t>
            </a:r>
            <a:r>
              <a:rPr b="1" dirty="0" sz="2400" lang="en-US"/>
              <a:t>S</a:t>
            </a:r>
            <a:r>
              <a:rPr b="1" dirty="0" sz="2400" lang="en-US"/>
              <a:t>C</a:t>
            </a:r>
            <a:r>
              <a:rPr b="1" dirty="0" sz="2400" lang="en-US"/>
              <a:t>I</a:t>
            </a:r>
            <a:r>
              <a:rPr b="1" dirty="0" sz="2400" lang="en-US"/>
              <a:t>E</a:t>
            </a:r>
            <a:r>
              <a:rPr b="1" dirty="0" sz="2400" lang="en-US"/>
              <a:t>N</a:t>
            </a:r>
            <a:r>
              <a:rPr b="1" dirty="0" sz="2400" lang="en-US"/>
              <a:t>C</a:t>
            </a:r>
            <a:r>
              <a:rPr b="1" dirty="0" sz="2400" lang="en-US"/>
              <a:t>E</a:t>
            </a:r>
            <a:r>
              <a:rPr b="1" dirty="0" sz="2400" lang="en-US"/>
              <a:t>,</a:t>
            </a:r>
            <a:r>
              <a:rPr b="1" dirty="0" sz="2400" lang="en-US"/>
              <a:t>	</a:t>
            </a:r>
            <a:endParaRPr altLang="en-US" b="1" sz="2000" lang="zh-CN"/>
          </a:p>
          <a:p>
            <a:pPr lvl="3"/>
            <a:r>
              <a:rPr altLang="en-US" b="1" sz="1800" lang="en-US"/>
              <a:t> </a:t>
            </a:r>
            <a:r>
              <a:rPr altLang="en-US" b="1" sz="2400" lang="en-US"/>
              <a:t>C</a:t>
            </a:r>
            <a:r>
              <a:rPr altLang="en-US" b="1" sz="2400" lang="en-US"/>
              <a:t>H</a:t>
            </a:r>
            <a:r>
              <a:rPr altLang="en-US" b="1" sz="2400" lang="en-US"/>
              <a:t>R</a:t>
            </a:r>
            <a:r>
              <a:rPr altLang="en-US" b="1" sz="2400" lang="en-US"/>
              <a:t>O</a:t>
            </a:r>
            <a:r>
              <a:rPr altLang="en-US" b="1" sz="2400" lang="en-US"/>
              <a:t>M</a:t>
            </a:r>
            <a:r>
              <a:rPr altLang="en-US" b="1" sz="2400" lang="en-US"/>
              <a:t>P</a:t>
            </a:r>
            <a:r>
              <a:rPr altLang="en-US" b="1" sz="2400" lang="en-US"/>
              <a:t>E</a:t>
            </a:r>
            <a:r>
              <a:rPr altLang="en-US" b="1" sz="2400" lang="en-US"/>
              <a:t>T</a:t>
            </a:r>
            <a:r>
              <a:rPr altLang="en-US" b="1" sz="2400" lang="en-US"/>
              <a:t>/</a:t>
            </a:r>
            <a:r>
              <a:rPr altLang="en-US" b="1" sz="2400" lang="en-US"/>
              <a:t>U</a:t>
            </a:r>
            <a:r>
              <a:rPr altLang="en-US" b="1" sz="2400" lang="en-US"/>
              <a:t>N</a:t>
            </a:r>
            <a:r>
              <a:rPr altLang="en-US" b="1" sz="2400" lang="en-US"/>
              <a:t>I</a:t>
            </a:r>
            <a:r>
              <a:rPr altLang="en-US" b="1" sz="2400" lang="en-US"/>
              <a:t>V</a:t>
            </a:r>
            <a:r>
              <a:rPr altLang="en-US" b="1" sz="2400" lang="en-US"/>
              <a:t>E</a:t>
            </a:r>
            <a:r>
              <a:rPr altLang="en-US" b="1" sz="2400" lang="en-US"/>
              <a:t>R</a:t>
            </a:r>
            <a:r>
              <a:rPr altLang="en-US" b="1" sz="2400" lang="en-US"/>
              <a:t>S</a:t>
            </a:r>
            <a:r>
              <a:rPr altLang="en-US" b="1" sz="2400" lang="en-US"/>
              <a:t>I</a:t>
            </a:r>
            <a:r>
              <a:rPr altLang="en-US" b="1" sz="2400" lang="en-US"/>
              <a:t>T</a:t>
            </a:r>
            <a:r>
              <a:rPr altLang="en-US" b="1" sz="2400" lang="en-US"/>
              <a:t>Y</a:t>
            </a:r>
            <a:r>
              <a:rPr altLang="en-US" b="1" sz="2400" lang="en-US"/>
              <a:t> </a:t>
            </a:r>
            <a:r>
              <a:rPr altLang="en-US" b="1" sz="2400" lang="en-US"/>
              <a:t>O</a:t>
            </a:r>
            <a:r>
              <a:rPr altLang="en-US" b="1" sz="2400" lang="en-US"/>
              <a:t>F</a:t>
            </a:r>
            <a:r>
              <a:rPr altLang="en-US" b="1" sz="2400" lang="en-US"/>
              <a:t> </a:t>
            </a:r>
            <a:r>
              <a:rPr altLang="en-US" b="1" sz="2400" lang="en-US"/>
              <a:t>M</a:t>
            </a:r>
            <a:r>
              <a:rPr altLang="en-US" b="1" sz="2400" lang="en-US"/>
              <a:t>A</a:t>
            </a:r>
            <a:r>
              <a:rPr altLang="en-US" b="1" sz="2400" lang="en-US"/>
              <a:t>D</a:t>
            </a:r>
            <a:r>
              <a:rPr altLang="en-US" b="1" sz="2400" lang="en-US"/>
              <a:t>R</a:t>
            </a:r>
            <a:r>
              <a:rPr altLang="en-US" b="1" sz="2400" lang="en-US"/>
              <a:t>A</a:t>
            </a:r>
            <a:r>
              <a:rPr altLang="en-US" b="1" sz="2400" lang="en-US"/>
              <a:t>S</a:t>
            </a:r>
            <a:endParaRPr altLang="en-US" b="1" sz="2000" lang="zh-CN"/>
          </a:p>
          <a:p>
            <a:r>
              <a:rPr b="1" dirty="0" sz="2400" lang="en-US"/>
              <a:t>           </a:t>
            </a:r>
            <a:endParaRPr b="1"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9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0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1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2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3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4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5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6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7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8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9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30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31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32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grpSp>
        <p:nvGrpSpPr>
          <p:cNvPr id="33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7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8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33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  <p:sp>
        <p:nvSpPr>
          <p:cNvPr id="1048634" name=""/>
          <p:cNvSpPr txBox="1"/>
          <p:nvPr/>
        </p:nvSpPr>
        <p:spPr>
          <a:xfrm>
            <a:off x="890040" y="2019300"/>
            <a:ext cx="8116376" cy="1488439"/>
          </a:xfrm>
          <a:prstGeom prst="rect"/>
        </p:spPr>
        <p:txBody>
          <a:bodyPr rtlCol="0" wrap="square">
            <a:spAutoFit/>
          </a:bodyPr>
          <a:p>
            <a:r>
              <a:rPr b="1" sz="6600" lang="en-US">
                <a:solidFill>
                  <a:srgbClr val="000000"/>
                </a:solidFill>
              </a:rPr>
              <a:t>D</a:t>
            </a:r>
            <a:r>
              <a:rPr b="1" sz="6600" lang="en-US">
                <a:solidFill>
                  <a:srgbClr val="000000"/>
                </a:solidFill>
              </a:rPr>
              <a:t>I</a:t>
            </a:r>
            <a:r>
              <a:rPr b="1" sz="6600" lang="en-US">
                <a:solidFill>
                  <a:srgbClr val="000000"/>
                </a:solidFill>
              </a:rPr>
              <a:t>G</a:t>
            </a:r>
            <a:r>
              <a:rPr b="1" sz="6600" lang="en-US">
                <a:solidFill>
                  <a:srgbClr val="000000"/>
                </a:solidFill>
              </a:rPr>
              <a:t>I</a:t>
            </a:r>
            <a:r>
              <a:rPr b="1" sz="6600" lang="en-US">
                <a:solidFill>
                  <a:srgbClr val="000000"/>
                </a:solidFill>
              </a:rPr>
              <a:t>T</a:t>
            </a:r>
            <a:r>
              <a:rPr b="1" sz="6600" lang="en-US">
                <a:solidFill>
                  <a:srgbClr val="000000"/>
                </a:solidFill>
              </a:rPr>
              <a:t>A</a:t>
            </a:r>
            <a:r>
              <a:rPr b="1" sz="6600" lang="en-US">
                <a:solidFill>
                  <a:srgbClr val="000000"/>
                </a:solidFill>
              </a:rPr>
              <a:t>L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P</a:t>
            </a:r>
            <a:r>
              <a:rPr b="1" sz="6600" lang="en-US">
                <a:solidFill>
                  <a:srgbClr val="000000"/>
                </a:solidFill>
              </a:rPr>
              <a:t>O</a:t>
            </a:r>
            <a:r>
              <a:rPr b="1" sz="6600" lang="en-US">
                <a:solidFill>
                  <a:srgbClr val="000000"/>
                </a:solidFill>
              </a:rPr>
              <a:t>R</a:t>
            </a:r>
            <a:r>
              <a:rPr b="1" sz="6600" lang="en-US">
                <a:solidFill>
                  <a:srgbClr val="000000"/>
                </a:solidFill>
              </a:rPr>
              <a:t>T</a:t>
            </a:r>
            <a:r>
              <a:rPr b="1" sz="6600" lang="en-US">
                <a:solidFill>
                  <a:srgbClr val="000000"/>
                </a:solidFill>
              </a:rPr>
              <a:t>F</a:t>
            </a:r>
            <a:r>
              <a:rPr b="1" sz="6600" lang="en-US">
                <a:solidFill>
                  <a:srgbClr val="000000"/>
                </a:solidFill>
              </a:rPr>
              <a:t>O</a:t>
            </a:r>
            <a:r>
              <a:rPr b="1" sz="6600" lang="en-US">
                <a:solidFill>
                  <a:srgbClr val="000000"/>
                </a:solidFill>
              </a:rPr>
              <a:t>L</a:t>
            </a:r>
            <a:r>
              <a:rPr b="1" sz="6600" lang="en-US">
                <a:solidFill>
                  <a:srgbClr val="000000"/>
                </a:solidFill>
              </a:rPr>
              <a:t>I</a:t>
            </a:r>
            <a:r>
              <a:rPr b="1" sz="6600" lang="en-US">
                <a:solidFill>
                  <a:srgbClr val="000000"/>
                </a:solidFill>
              </a:rPr>
              <a:t>O</a:t>
            </a:r>
            <a:endParaRPr b="1" sz="7200" lang="en-US">
              <a:solidFill>
                <a:srgbClr val="000000"/>
              </a:solidFill>
            </a:endParaRPr>
          </a:p>
          <a:p>
            <a:endParaRPr b="1" sz="2800" lang="en-US">
              <a:solidFill>
                <a:srgbClr val="000000"/>
              </a:solidFill>
            </a:endParaRPr>
          </a:p>
        </p:txBody>
      </p:sp>
      <p:sp>
        <p:nvSpPr>
          <p:cNvPr id="1048635" name=""/>
          <p:cNvSpPr txBox="1"/>
          <p:nvPr/>
        </p:nvSpPr>
        <p:spPr>
          <a:xfrm>
            <a:off x="948227" y="3126105"/>
            <a:ext cx="5865065" cy="1107440"/>
          </a:xfrm>
          <a:prstGeom prst="rect"/>
        </p:spPr>
        <p:txBody>
          <a:bodyPr rtlCol="0" wrap="square">
            <a:spAutoFit/>
          </a:bodyPr>
          <a:p>
            <a:r>
              <a:rPr sz="4000" lang="en-US">
                <a:solidFill>
                  <a:srgbClr val="000000"/>
                </a:solidFill>
              </a:rPr>
              <a:t>F</a:t>
            </a:r>
            <a:r>
              <a:rPr sz="4000" lang="en-US">
                <a:solidFill>
                  <a:srgbClr val="000000"/>
                </a:solidFill>
              </a:rPr>
              <a:t>o</a:t>
            </a:r>
            <a:r>
              <a:rPr sz="4000" lang="en-US">
                <a:solidFill>
                  <a:srgbClr val="000000"/>
                </a:solidFill>
              </a:rPr>
              <a:t>r</a:t>
            </a:r>
            <a:r>
              <a:rPr sz="4000" lang="en-US">
                <a:solidFill>
                  <a:srgbClr val="000000"/>
                </a:solidFill>
              </a:rPr>
              <a:t> </a:t>
            </a:r>
            <a:r>
              <a:rPr sz="4000" lang="en-US">
                <a:solidFill>
                  <a:srgbClr val="000000"/>
                </a:solidFill>
              </a:rPr>
              <a:t>S</a:t>
            </a:r>
            <a:r>
              <a:rPr sz="4000" lang="en-US">
                <a:solidFill>
                  <a:srgbClr val="000000"/>
                </a:solidFill>
              </a:rPr>
              <a:t>t</a:t>
            </a:r>
            <a:r>
              <a:rPr sz="4000" lang="en-US">
                <a:solidFill>
                  <a:srgbClr val="000000"/>
                </a:solidFill>
              </a:rPr>
              <a:t>u</a:t>
            </a:r>
            <a:r>
              <a:rPr sz="4000" lang="en-US">
                <a:solidFill>
                  <a:srgbClr val="000000"/>
                </a:solidFill>
              </a:rPr>
              <a:t>d</a:t>
            </a:r>
            <a:r>
              <a:rPr sz="4000" lang="en-US">
                <a:solidFill>
                  <a:srgbClr val="000000"/>
                </a:solidFill>
              </a:rPr>
              <a:t>e</a:t>
            </a:r>
            <a:r>
              <a:rPr sz="4000" lang="en-US">
                <a:solidFill>
                  <a:srgbClr val="000000"/>
                </a:solidFill>
              </a:rPr>
              <a:t>n</a:t>
            </a:r>
            <a:r>
              <a:rPr sz="4000" lang="en-US">
                <a:solidFill>
                  <a:srgbClr val="000000"/>
                </a:solidFill>
              </a:rPr>
              <a:t>t</a:t>
            </a:r>
            <a:endParaRPr sz="4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0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596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597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598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599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0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1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2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3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4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05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06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07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08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2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21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09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3859533" cy="7372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10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11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2"/>
          <p:cNvGrpSpPr/>
          <p:nvPr/>
        </p:nvGrpSpPr>
        <p:grpSpPr>
          <a:xfrm>
            <a:off x="9215437" y="2905773"/>
            <a:ext cx="2762250" cy="3257550"/>
            <a:chOff x="7991475" y="2933700"/>
            <a:chExt cx="2762250" cy="3257550"/>
          </a:xfrm>
        </p:grpSpPr>
        <p:sp>
          <p:nvSpPr>
            <p:cNvPr id="1048612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13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5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14" name="object 6"/>
          <p:cNvSpPr/>
          <p:nvPr/>
        </p:nvSpPr>
        <p:spPr>
          <a:xfrm>
            <a:off x="10439400" y="-3238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15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69575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endParaRPr sz="4250"/>
          </a:p>
        </p:txBody>
      </p:sp>
      <p:pic>
        <p:nvPicPr>
          <p:cNvPr id="2097156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16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617" name=""/>
          <p:cNvSpPr txBox="1"/>
          <p:nvPr/>
        </p:nvSpPr>
        <p:spPr>
          <a:xfrm>
            <a:off x="676275" y="1480056"/>
            <a:ext cx="8529834" cy="4282441"/>
          </a:xfrm>
          <a:prstGeom prst="rect"/>
        </p:spPr>
        <p:txBody>
          <a:bodyPr rtlCol="0" wrap="square">
            <a:spAutoFit/>
          </a:bodyPr>
          <a:p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In today’s digital world, having only a traditional resume is not enough to stand out.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Recruiters and peers often prefer interactive, easily accessible portfolios instead of static documents.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The challenge was to design and build a personal portfolio website that is simple, professional, and responsive, while also highlighting my personality as an aspiring developer.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36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37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9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38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39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0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0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641" name=""/>
          <p:cNvSpPr txBox="1"/>
          <p:nvPr/>
        </p:nvSpPr>
        <p:spPr>
          <a:xfrm>
            <a:off x="739775" y="1857375"/>
            <a:ext cx="7832516" cy="30886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Brief Summary of the Project:
</a:t>
            </a:r>
            <a:r>
              <a:rPr sz="2800" lang="en-US">
                <a:solidFill>
                  <a:srgbClr val="000000"/>
                </a:solidFill>
              </a:rPr>
              <a:t>This is a personal digital portfolio website designed to showcase my skills, projects, and achievements. The portfolio is fully responsive, visually engaging, and serves as a professional introduction to who I am as an aspiring developer.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"/>
          <p:cNvSpPr txBox="1"/>
          <p:nvPr/>
        </p:nvSpPr>
        <p:spPr>
          <a:xfrm>
            <a:off x="862783" y="235967"/>
            <a:ext cx="10091017" cy="60223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Sections Included:</a:t>
            </a:r>
            <a:r>
              <a:rPr sz="2800" lang="en-US">
                <a:solidFill>
                  <a:srgbClr val="000000"/>
                </a:solidFill>
              </a:rPr>
              <a:t>
</a:t>
            </a:r>
            <a:r>
              <a:rPr b="1" sz="2800" lang="en-US">
                <a:solidFill>
                  <a:srgbClr val="000000"/>
                </a:solidFill>
              </a:rPr>
              <a:t>Home</a:t>
            </a:r>
            <a:r>
              <a:rPr sz="2800" lang="en-US">
                <a:solidFill>
                  <a:srgbClr val="000000"/>
                </a:solidFill>
              </a:rPr>
              <a:t> → A welcoming hero section with introduction and CV access.
</a:t>
            </a:r>
            <a:r>
              <a:rPr b="1" sz="2800" lang="en-US">
                <a:solidFill>
                  <a:srgbClr val="000000"/>
                </a:solidFill>
              </a:rPr>
              <a:t>About Me</a:t>
            </a:r>
            <a:r>
              <a:rPr sz="2800" lang="en-US">
                <a:solidFill>
                  <a:srgbClr val="000000"/>
                </a:solidFill>
              </a:rPr>
              <a:t> → A short background about my passion, learning, and career goals.
</a:t>
            </a:r>
            <a:r>
              <a:rPr b="1" sz="2800" lang="en-US">
                <a:solidFill>
                  <a:srgbClr val="000000"/>
                </a:solidFill>
              </a:rPr>
              <a:t>Skills </a:t>
            </a:r>
            <a:r>
              <a:rPr sz="2800" lang="en-US">
                <a:solidFill>
                  <a:srgbClr val="000000"/>
                </a:solidFill>
              </a:rPr>
              <a:t>→ Highlights of my core soft and technical skills.
</a:t>
            </a:r>
            <a:r>
              <a:rPr b="1" sz="2800" lang="en-US">
                <a:solidFill>
                  <a:srgbClr val="000000"/>
                </a:solidFill>
              </a:rPr>
              <a:t>Projects (Portfolio)</a:t>
            </a:r>
            <a:r>
              <a:rPr sz="2800" lang="en-US">
                <a:solidFill>
                  <a:srgbClr val="000000"/>
                </a:solidFill>
              </a:rPr>
              <a:t> → A gallery of my completed and ongoing projects, with interactive image previews.
</a:t>
            </a:r>
            <a:r>
              <a:rPr b="1" sz="2800" lang="en-US">
                <a:solidFill>
                  <a:srgbClr val="000000"/>
                </a:solidFill>
              </a:rPr>
              <a:t>Contact</a:t>
            </a:r>
            <a:r>
              <a:rPr sz="2800" lang="en-US">
                <a:solidFill>
                  <a:srgbClr val="000000"/>
                </a:solidFill>
              </a:rPr>
              <a:t> → Direct links to my email, LinkedIn, and GitHub for networking.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"/>
          <p:cNvSpPr txBox="1"/>
          <p:nvPr/>
        </p:nvSpPr>
        <p:spPr>
          <a:xfrm>
            <a:off x="812833" y="1884680"/>
            <a:ext cx="7880229" cy="30886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Main Idea: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 portfolio’s main purpose is to provide a central hub where recruiters, peers, and collaborators can easily explore my background, skills, and work. It reflects my personality and showcases my ability to build modern, responsive, and interactive websites.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5" name="object 5"/>
          <p:cNvSpPr txBox="1">
            <a:spLocks noGrp="1"/>
          </p:cNvSpPr>
          <p:nvPr>
            <p:ph type="title"/>
          </p:nvPr>
        </p:nvSpPr>
        <p:spPr>
          <a:xfrm>
            <a:off x="723899" y="644180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66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8</a:t>
            </a:fld>
            <a:endParaRPr dirty="0" spc="10"/>
          </a:p>
        </p:txBody>
      </p:sp>
      <p:sp>
        <p:nvSpPr>
          <p:cNvPr id="1048667" name=""/>
          <p:cNvSpPr txBox="1"/>
          <p:nvPr/>
        </p:nvSpPr>
        <p:spPr>
          <a:xfrm>
            <a:off x="723900" y="2016442"/>
            <a:ext cx="9648785" cy="30251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▶</a:t>
            </a:r>
            <a:r>
              <a:rPr b="1" sz="2800" lang="en-US">
                <a:solidFill>
                  <a:srgbClr val="000000"/>
                </a:solidFill>
              </a:rPr>
              <a:t>Recruiters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: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to evaluate skills &amp; projects.</a:t>
            </a:r>
            <a:endParaRPr b="0" sz="24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</a:rPr>
              <a:t>
▶Professors / College evaluators </a:t>
            </a:r>
            <a:r>
              <a:rPr b="1" sz="2800" lang="en-US">
                <a:solidFill>
                  <a:srgbClr val="000000"/>
                </a:solidFill>
              </a:rPr>
              <a:t>: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academic review.</a:t>
            </a:r>
            <a:endParaRPr b="0" sz="24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</a:rPr>
              <a:t>
▶Peers and collaborators</a:t>
            </a:r>
            <a:endParaRPr b="1" sz="24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</a:rPr>
              <a:t>
▶Self-branding </a:t>
            </a:r>
            <a:r>
              <a:rPr b="1" sz="2800" lang="en-US">
                <a:solidFill>
                  <a:srgbClr val="000000"/>
                </a:solidFill>
              </a:rPr>
              <a:t>: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personal growth, online presence</a:t>
            </a:r>
            <a:r>
              <a:rPr b="0" sz="2800" lang="en-US">
                <a:solidFill>
                  <a:srgbClr val="000000"/>
                </a:solidFill>
              </a:rPr>
              <a:t>.</a:t>
            </a:r>
            <a:endParaRPr b="0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-199911" y="1558288"/>
            <a:ext cx="2695574" cy="3248025"/>
          </a:xfrm>
          <a:prstGeom prst="rect"/>
        </p:spPr>
      </p:pic>
      <p:sp>
        <p:nvSpPr>
          <p:cNvPr id="1048668" name="object 3"/>
          <p:cNvSpPr/>
          <p:nvPr/>
        </p:nvSpPr>
        <p:spPr>
          <a:xfrm>
            <a:off x="10546422" y="4495800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9" name="object 4"/>
          <p:cNvSpPr/>
          <p:nvPr/>
        </p:nvSpPr>
        <p:spPr>
          <a:xfrm>
            <a:off x="8652382" y="695959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0" name="object 5"/>
          <p:cNvSpPr/>
          <p:nvPr/>
        </p:nvSpPr>
        <p:spPr>
          <a:xfrm>
            <a:off x="10913135" y="5596030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71" name="object 6"/>
          <p:cNvSpPr txBox="1">
            <a:spLocks noGrp="1"/>
          </p:cNvSpPr>
          <p:nvPr>
            <p:ph type="title"/>
          </p:nvPr>
        </p:nvSpPr>
        <p:spPr>
          <a:xfrm>
            <a:off x="676274" y="473073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72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9</a:t>
            </a:fld>
            <a:endParaRPr dirty="0" spc="10"/>
          </a:p>
        </p:txBody>
      </p:sp>
      <p:sp>
        <p:nvSpPr>
          <p:cNvPr id="1048673" name=""/>
          <p:cNvSpPr txBox="1"/>
          <p:nvPr/>
        </p:nvSpPr>
        <p:spPr>
          <a:xfrm>
            <a:off x="2495663" y="1558289"/>
            <a:ext cx="8158163" cy="49555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HTML </a:t>
            </a:r>
            <a:r>
              <a:rPr sz="2800" lang="en-US">
                <a:solidFill>
                  <a:srgbClr val="000000"/>
                </a:solidFill>
              </a:rPr>
              <a:t>→ Used to structure the content of the website (sections like Home, About, Projects, Contact).
</a:t>
            </a:r>
            <a:r>
              <a:rPr b="1" sz="3200" lang="en-US">
                <a:solidFill>
                  <a:srgbClr val="000000"/>
                </a:solidFill>
              </a:rPr>
              <a:t>CSS</a:t>
            </a:r>
            <a:r>
              <a:rPr sz="2800" lang="en-US">
                <a:solidFill>
                  <a:srgbClr val="000000"/>
                </a:solidFill>
              </a:rPr>
              <a:t> → Styled the portfolio with colors, layouts, animations, and responsive </a:t>
            </a:r>
            <a:r>
              <a:rPr b="0" sz="2800" lang="en-US">
                <a:solidFill>
                  <a:srgbClr val="000000"/>
                </a:solidFill>
              </a:rPr>
              <a:t>design for mobile and desktop.</a:t>
            </a:r>
            <a:r>
              <a:rPr sz="2800" lang="en-US">
                <a:solidFill>
                  <a:srgbClr val="000000"/>
                </a:solidFill>
              </a:rPr>
              <a:t>
</a:t>
            </a:r>
            <a:r>
              <a:rPr b="1" sz="3200" lang="en-US">
                <a:solidFill>
                  <a:srgbClr val="000000"/>
                </a:solidFill>
              </a:rPr>
              <a:t>JavaScript</a:t>
            </a:r>
            <a:r>
              <a:rPr sz="2800" lang="en-US">
                <a:solidFill>
                  <a:srgbClr val="000000"/>
                </a:solidFill>
              </a:rPr>
              <a:t> → Added interactivity such as scroll animations, project image viewer, and smooth user experience.
</a:t>
            </a:r>
            <a:r>
              <a:rPr b="1" sz="3200" lang="en-US">
                <a:solidFill>
                  <a:srgbClr val="000000"/>
                </a:solidFill>
              </a:rPr>
              <a:t>ACode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0" sz="3200" lang="en-US">
                <a:solidFill>
                  <a:srgbClr val="000000"/>
                </a:solidFill>
              </a:rPr>
              <a:t>App</a:t>
            </a:r>
            <a:r>
              <a:rPr sz="2800" lang="en-US">
                <a:solidFill>
                  <a:srgbClr val="000000"/>
                </a:solidFill>
              </a:rPr>
              <a:t> → A mobile code editor where the entire project was built and tested.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75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6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77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8" name=""/>
          <p:cNvSpPr txBox="1"/>
          <p:nvPr/>
        </p:nvSpPr>
        <p:spPr>
          <a:xfrm>
            <a:off x="739775" y="1002030"/>
            <a:ext cx="10059207" cy="53111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Dark Theme</a:t>
            </a:r>
            <a:r>
              <a:rPr sz="2800" lang="en-US">
                <a:solidFill>
                  <a:srgbClr val="000000"/>
                </a:solidFill>
              </a:rPr>
              <a:t> → The portfolio uses a dark navy background with light text, creating a modern and professional look. Bright cyan highlights are used to make important elements like headings and buttons stand out.
</a:t>
            </a:r>
            <a:r>
              <a:rPr b="1" sz="3200" lang="en-US">
                <a:solidFill>
                  <a:srgbClr val="000000"/>
                </a:solidFill>
              </a:rPr>
              <a:t>Organized Sections </a:t>
            </a:r>
            <a:r>
              <a:rPr sz="2800" lang="en-US">
                <a:solidFill>
                  <a:srgbClr val="000000"/>
                </a:solidFill>
              </a:rPr>
              <a:t>→ The site is divided into clear sections (Home, About, Skills, Projects, Contact), making navigation simple and user-friendly.
</a:t>
            </a:r>
            <a:r>
              <a:rPr b="1" sz="3200" lang="en-US">
                <a:solidFill>
                  <a:srgbClr val="000000"/>
                </a:solidFill>
              </a:rPr>
              <a:t>Responsive Layout </a:t>
            </a:r>
            <a:r>
              <a:rPr sz="2800" lang="en-US">
                <a:solidFill>
                  <a:srgbClr val="000000"/>
                </a:solidFill>
              </a:rPr>
              <a:t>→ The design adapts to any screen size. On mobile, sections stack vertically, while on larger screens, the layout uses flexible grids and spacing.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"/>
          <p:cNvSpPr txBox="1"/>
          <p:nvPr/>
        </p:nvSpPr>
        <p:spPr>
          <a:xfrm>
            <a:off x="703252" y="1104229"/>
            <a:ext cx="9931968" cy="49555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Hero Section</a:t>
            </a:r>
            <a:r>
              <a:rPr sz="2800" lang="en-US">
                <a:solidFill>
                  <a:srgbClr val="000000"/>
                </a:solidFill>
              </a:rPr>
              <a:t> → Includes a welcome message, personal introduction, and profile picture with a glowing effect. It also provides quick access to view or download the CV.
</a:t>
            </a:r>
            <a:r>
              <a:rPr b="1" sz="3200" lang="en-US">
                <a:solidFill>
                  <a:srgbClr val="000000"/>
                </a:solidFill>
              </a:rPr>
              <a:t>
Projects Grid </a:t>
            </a:r>
            <a:r>
              <a:rPr sz="2800" lang="en-US">
                <a:solidFill>
                  <a:srgbClr val="000000"/>
                </a:solidFill>
              </a:rPr>
              <a:t>→ Projects are displayed in card-style boxes with hover effects. Clicking on a project opens an interactive image viewer for more details.
</a:t>
            </a:r>
            <a:r>
              <a:rPr b="1" sz="3200" lang="en-US">
                <a:solidFill>
                  <a:srgbClr val="000000"/>
                </a:solidFill>
              </a:rPr>
              <a:t>Contact Area </a:t>
            </a:r>
            <a:r>
              <a:rPr sz="2800" lang="en-US">
                <a:solidFill>
                  <a:srgbClr val="000000"/>
                </a:solidFill>
              </a:rPr>
              <a:t>→ Shows email, phone, LinkedIn, and GitHub in a clean, centered design, making it easy for others to connect.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681" name=""/>
          <p:cNvSpPr txBox="1"/>
          <p:nvPr/>
        </p:nvSpPr>
        <p:spPr>
          <a:xfrm>
            <a:off x="755332" y="1287780"/>
            <a:ext cx="10250067" cy="4892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Animated Section Reveal</a:t>
            </a:r>
            <a:r>
              <a:rPr sz="2800" lang="en-US">
                <a:solidFill>
                  <a:srgbClr val="000000"/>
                </a:solidFill>
              </a:rPr>
              <a:t> → Each section smoothly fades in as the user scrolls down, making the site engaging.
</a:t>
            </a:r>
            <a:r>
              <a:rPr b="1" sz="3200" lang="en-US">
                <a:solidFill>
                  <a:srgbClr val="000000"/>
                </a:solidFill>
              </a:rPr>
              <a:t>Interactive Image Viewer</a:t>
            </a:r>
            <a:r>
              <a:rPr sz="2800" lang="en-US">
                <a:solidFill>
                  <a:srgbClr val="000000"/>
                </a:solidFill>
              </a:rPr>
              <a:t> → Clicking on a project opens a full-screen image viewer with next/previous buttons for browsing.
</a:t>
            </a:r>
            <a:r>
              <a:rPr b="1" sz="3200" lang="en-US">
                <a:solidFill>
                  <a:srgbClr val="000000"/>
                </a:solidFill>
              </a:rPr>
              <a:t>Responsive Design</a:t>
            </a:r>
            <a:r>
              <a:rPr sz="2800" lang="en-US">
                <a:solidFill>
                  <a:srgbClr val="000000"/>
                </a:solidFill>
              </a:rPr>
              <a:t> → Works seamlessly on desktops, tablets, and smartphones. Layout automatically adjusts to screen size.
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"/>
          <p:cNvSpPr txBox="1"/>
          <p:nvPr/>
        </p:nvSpPr>
        <p:spPr>
          <a:xfrm>
            <a:off x="692628" y="1938882"/>
            <a:ext cx="9597964" cy="36347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Downloadable CV</a:t>
            </a:r>
            <a:r>
              <a:rPr sz="2800" lang="en-US">
                <a:solidFill>
                  <a:srgbClr val="000000"/>
                </a:solidFill>
              </a:rPr>
              <a:t> → Visitors can either view the CV directly on the site or download it for later.
</a:t>
            </a:r>
            <a:r>
              <a:rPr b="1" sz="3200" lang="en-US">
                <a:solidFill>
                  <a:srgbClr val="000000"/>
                </a:solidFill>
              </a:rPr>
              <a:t>Hover Effects</a:t>
            </a:r>
            <a:r>
              <a:rPr sz="2800" lang="en-US">
                <a:solidFill>
                  <a:srgbClr val="000000"/>
                </a:solidFill>
              </a:rPr>
              <a:t> → Buttons and project cards have hover animations, making the site more interactive and modern.
</a:t>
            </a:r>
            <a:r>
              <a:rPr b="1" sz="3200" lang="en-US">
                <a:solidFill>
                  <a:srgbClr val="000000"/>
                </a:solidFill>
              </a:rPr>
              <a:t>Smooth Scrolling </a:t>
            </a:r>
            <a:r>
              <a:rPr sz="2800" lang="en-US">
                <a:solidFill>
                  <a:srgbClr val="000000"/>
                </a:solidFill>
              </a:rPr>
              <a:t>→ Navigation between sections feels natural and user-friendly.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84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85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86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87" name="object 7"/>
          <p:cNvSpPr txBox="1">
            <a:spLocks noGrp="1"/>
          </p:cNvSpPr>
          <p:nvPr>
            <p:ph type="title"/>
          </p:nvPr>
        </p:nvSpPr>
        <p:spPr>
          <a:xfrm>
            <a:off x="480799" y="596265"/>
            <a:ext cx="4090460" cy="12611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88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14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9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526029" y="1857375"/>
            <a:ext cx="2349855" cy="4599851"/>
          </a:xfrm>
          <a:prstGeom prst="rect"/>
        </p:spPr>
      </p:pic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5182156" y="1877660"/>
            <a:ext cx="7158793" cy="4605236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64673" y="0"/>
            <a:ext cx="3393025" cy="6858000"/>
          </a:xfrm>
          <a:prstGeom prst="rect"/>
        </p:spPr>
      </p:pic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159959" y="0"/>
            <a:ext cx="3872082" cy="6858000"/>
          </a:xfrm>
          <a:prstGeom prst="rect"/>
        </p:spPr>
      </p:pic>
      <p:pic>
        <p:nvPicPr>
          <p:cNvPr id="2097173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8534302" y="0"/>
            <a:ext cx="3388732" cy="6858000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590462" y="470161"/>
            <a:ext cx="9854529" cy="5917678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object 3"/>
          <p:cNvSpPr/>
          <p:nvPr/>
        </p:nvSpPr>
        <p:spPr>
          <a:xfrm>
            <a:off x="11505818" y="56673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91" name="object 4"/>
          <p:cNvSpPr/>
          <p:nvPr/>
        </p:nvSpPr>
        <p:spPr>
          <a:xfrm>
            <a:off x="10962893" y="385443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92" name="object 5"/>
          <p:cNvSpPr/>
          <p:nvPr/>
        </p:nvSpPr>
        <p:spPr>
          <a:xfrm>
            <a:off x="11505818" y="6767513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7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93" name="object 7"/>
          <p:cNvSpPr txBox="1">
            <a:spLocks noGrp="1"/>
          </p:cNvSpPr>
          <p:nvPr>
            <p:ph type="title"/>
          </p:nvPr>
        </p:nvSpPr>
        <p:spPr>
          <a:xfrm>
            <a:off x="755330" y="0"/>
            <a:ext cx="4578668" cy="752129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94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17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95" name=""/>
          <p:cNvSpPr txBox="1"/>
          <p:nvPr/>
        </p:nvSpPr>
        <p:spPr>
          <a:xfrm>
            <a:off x="755329" y="889635"/>
            <a:ext cx="10547073" cy="56667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Highlights of the Project</a:t>
            </a:r>
            <a:r>
              <a:rPr sz="2800" lang="en-US">
                <a:solidFill>
                  <a:srgbClr val="000000"/>
                </a:solidFill>
              </a:rPr>
              <a:t>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Built a personal portfolio website from scratch using HTML, CSS, and JavaScript.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Designed with a modern dark theme and responsive layout.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Added interactive features like scroll animations, image viewer, and hover effects.
</a:t>
            </a:r>
            <a:r>
              <a:rPr altLang="en-US" sz="2800" lang="en-US">
                <a:solidFill>
                  <a:srgbClr val="000000"/>
                </a:solidFill>
              </a:rPr>
              <a:t>»</a:t>
            </a:r>
            <a:r>
              <a:rPr sz="2800" lang="en-US">
                <a:solidFill>
                  <a:srgbClr val="000000"/>
                </a:solidFill>
              </a:rPr>
              <a:t>Showcases projects, skills, and achievements in a structured way.
</a:t>
            </a:r>
            <a:r>
              <a:rPr b="1" sz="3200" lang="en-US">
                <a:solidFill>
                  <a:srgbClr val="000000"/>
                </a:solidFill>
              </a:rPr>
              <a:t>Final Summary</a:t>
            </a:r>
            <a:r>
              <a:rPr sz="2800" lang="en-US">
                <a:solidFill>
                  <a:srgbClr val="000000"/>
                </a:solidFill>
              </a:rPr>
              <a:t>
This portfolio is more than just a website – it’s a digital identity.
It reflects my passion for coding, my ability to design user-friendly layouts, and my drive to continuously learn and grow as a developer.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2024-03-24T14:07:22Z</dcterms:created>
  <dcterms:modified xsi:type="dcterms:W3CDTF">2025-09-11T17:58:44Z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c84cc6df7a0d450bbea286085fd57665</vt:lpwstr>
  </property>
</Properties>
</file>