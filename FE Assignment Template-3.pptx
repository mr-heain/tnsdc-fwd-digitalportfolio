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1369" y="5121909"/>
            <a:ext cx="6402705" cy="20955"/>
            <a:chOff x="801369" y="5121909"/>
            <a:chExt cx="640270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801370" y="512190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200899" y="51227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1928" y="512281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200899" y="512584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01928" y="51395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928" y="513956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92276" y="1145793"/>
            <a:ext cx="6301740" cy="4857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3716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latin typeface="Times New Roman"/>
                <a:cs typeface="Times New Roman"/>
              </a:rPr>
              <a:t>FRONT-</a:t>
            </a:r>
            <a:r>
              <a:rPr dirty="0" sz="2100" b="1">
                <a:latin typeface="Times New Roman"/>
                <a:cs typeface="Times New Roman"/>
              </a:rPr>
              <a:t>END</a:t>
            </a:r>
            <a:r>
              <a:rPr dirty="0" sz="2100" spc="50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DEVELOPMENT</a:t>
            </a:r>
            <a:endParaRPr sz="2100">
              <a:latin typeface="Times New Roman"/>
              <a:cs typeface="Times New Roman"/>
            </a:endParaRPr>
          </a:p>
          <a:p>
            <a:pPr algn="ctr" marR="136525">
              <a:lnSpc>
                <a:spcPct val="100000"/>
              </a:lnSpc>
              <a:spcBef>
                <a:spcPts val="2100"/>
              </a:spcBef>
            </a:pPr>
            <a:r>
              <a:rPr dirty="0" sz="1500" b="1">
                <a:latin typeface="Times New Roman"/>
                <a:cs typeface="Times New Roman"/>
              </a:rPr>
              <a:t>ASSIGNMENT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3</a:t>
            </a:r>
            <a:r>
              <a:rPr dirty="0" sz="1500" spc="-2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TEMPLATE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5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STUDENT</a:t>
            </a:r>
            <a:r>
              <a:rPr dirty="0" sz="1200" spc="-10" b="1">
                <a:latin typeface="Times New Roman"/>
                <a:cs typeface="Times New Roman"/>
              </a:rPr>
              <a:t> NAME: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40"/>
              </a:spcBef>
            </a:pPr>
            <a:r>
              <a:rPr dirty="0" sz="1200" spc="-10" b="1">
                <a:latin typeface="Times New Roman"/>
                <a:cs typeface="Times New Roman"/>
              </a:rPr>
              <a:t>YEAR: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Times New Roman"/>
                <a:cs typeface="Times New Roman"/>
              </a:rPr>
              <a:t>COLLEGE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CODE: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Times New Roman"/>
                <a:cs typeface="Times New Roman"/>
              </a:rPr>
              <a:t>COLLEGE</a:t>
            </a:r>
            <a:r>
              <a:rPr dirty="0" sz="1200" spc="-20" b="1">
                <a:latin typeface="Times New Roman"/>
                <a:cs typeface="Times New Roman"/>
              </a:rPr>
              <a:t> NAME: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50"/>
              </a:spcBef>
            </a:pPr>
            <a:r>
              <a:rPr dirty="0" sz="1200" spc="-10" b="1">
                <a:latin typeface="Times New Roman"/>
                <a:cs typeface="Times New Roman"/>
              </a:rPr>
              <a:t>DEPARTMENT: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925"/>
              </a:spcBef>
            </a:pPr>
            <a:r>
              <a:rPr dirty="0" sz="1200" spc="-10" b="1">
                <a:latin typeface="Times New Roman"/>
                <a:cs typeface="Times New Roman"/>
              </a:rPr>
              <a:t>SEMESTER: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925"/>
              </a:spcBef>
            </a:pPr>
            <a:r>
              <a:rPr dirty="0" sz="1200" b="1">
                <a:latin typeface="Times New Roman"/>
                <a:cs typeface="Times New Roman"/>
              </a:rPr>
              <a:t>ROLL </a:t>
            </a:r>
            <a:r>
              <a:rPr dirty="0" sz="1200" spc="-25" b="1">
                <a:latin typeface="Times New Roman"/>
                <a:cs typeface="Times New Roman"/>
              </a:rPr>
              <a:t>NO: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dirty="0" sz="1200" spc="-10" b="1">
                <a:latin typeface="Times New Roman"/>
                <a:cs typeface="Times New Roman"/>
              </a:rPr>
              <a:t>NMID: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25"/>
              </a:spcBef>
            </a:pPr>
            <a:r>
              <a:rPr dirty="0" sz="1200" spc="-10" b="1">
                <a:latin typeface="Times New Roman"/>
                <a:cs typeface="Times New Roman"/>
              </a:rPr>
              <a:t>DATE:</a:t>
            </a:r>
            <a:endParaRPr sz="120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TITLE: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1.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 Statement:</a:t>
            </a:r>
            <a:endParaRPr sz="140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840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explains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need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make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previously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created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HTML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page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interactive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using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validation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dynamic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data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handling.)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08990" y="6226809"/>
            <a:ext cx="6395085" cy="20955"/>
            <a:chOff x="808990" y="6226809"/>
            <a:chExt cx="6395085" cy="20955"/>
          </a:xfrm>
        </p:grpSpPr>
        <p:sp>
          <p:nvSpPr>
            <p:cNvPr id="11" name="object 11" descr=""/>
            <p:cNvSpPr/>
            <p:nvPr/>
          </p:nvSpPr>
          <p:spPr>
            <a:xfrm>
              <a:off x="808990" y="6226809"/>
              <a:ext cx="6393180" cy="20320"/>
            </a:xfrm>
            <a:custGeom>
              <a:avLst/>
              <a:gdLst/>
              <a:ahLst/>
              <a:cxnLst/>
              <a:rect l="l" t="t" r="r" b="b"/>
              <a:pathLst>
                <a:path w="6393180" h="20320">
                  <a:moveTo>
                    <a:pt x="639318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393180" y="20320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00899" y="62279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9548" y="6227952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00899" y="623100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09548" y="624471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9548" y="6244729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89228" y="6463664"/>
            <a:ext cx="6288405" cy="716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2.</a:t>
            </a:r>
            <a:r>
              <a:rPr dirty="0" sz="1400" spc="-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Objective:</a:t>
            </a:r>
            <a:endParaRPr sz="1400">
              <a:latin typeface="Times New Roman"/>
              <a:cs typeface="Times New Roman"/>
            </a:endParaRPr>
          </a:p>
          <a:p>
            <a:pPr marL="20320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describes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goal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assignment,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which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is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10" i="1">
                <a:latin typeface="Times New Roman"/>
                <a:cs typeface="Times New Roman"/>
              </a:rPr>
              <a:t> implement client-</a:t>
            </a:r>
            <a:r>
              <a:rPr dirty="0" sz="1200" i="1">
                <a:latin typeface="Times New Roman"/>
                <a:cs typeface="Times New Roman"/>
              </a:rPr>
              <a:t>side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interactivity, </a:t>
            </a:r>
            <a:r>
              <a:rPr dirty="0" sz="1200" spc="-20" i="1">
                <a:latin typeface="Times New Roman"/>
                <a:cs typeface="Times New Roman"/>
              </a:rPr>
              <a:t>form </a:t>
            </a:r>
            <a:r>
              <a:rPr dirty="0" sz="1200" i="1">
                <a:latin typeface="Times New Roman"/>
                <a:cs typeface="Times New Roman"/>
              </a:rPr>
              <a:t>validation,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dynamic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updates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JavaScript.)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01369" y="7613650"/>
            <a:ext cx="6402705" cy="20955"/>
            <a:chOff x="801369" y="7613650"/>
            <a:chExt cx="6402705" cy="20955"/>
          </a:xfrm>
        </p:grpSpPr>
        <p:sp>
          <p:nvSpPr>
            <p:cNvPr id="19" name="object 19" descr=""/>
            <p:cNvSpPr/>
            <p:nvPr/>
          </p:nvSpPr>
          <p:spPr>
            <a:xfrm>
              <a:off x="801370" y="761364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00899" y="761479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01928" y="761479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00899" y="761784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01928" y="763155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1928" y="763156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48080" y="7689064"/>
            <a:ext cx="5963285" cy="139001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46050" indent="-136525">
              <a:lnSpc>
                <a:spcPct val="100000"/>
              </a:lnSpc>
              <a:spcBef>
                <a:spcPts val="730"/>
              </a:spcBef>
              <a:buSzPct val="92857"/>
              <a:buAutoNum type="arabicPeriod" startAt="3"/>
              <a:tabLst>
                <a:tab pos="146050" algn="l"/>
              </a:tabLst>
            </a:pP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Requirements:</a:t>
            </a:r>
            <a:endParaRPr sz="140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535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lists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functionalities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that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must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implemented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0" i="1">
                <a:latin typeface="Times New Roman"/>
                <a:cs typeface="Times New Roman"/>
              </a:rPr>
              <a:t> project.)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304165" indent="-24637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04165" algn="l"/>
              </a:tabLst>
            </a:pPr>
            <a:r>
              <a:rPr dirty="0" sz="1300" b="1">
                <a:latin typeface="Times New Roman"/>
                <a:cs typeface="Times New Roman"/>
              </a:rPr>
              <a:t>Form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Validation:</a:t>
            </a:r>
            <a:endParaRPr sz="1300">
              <a:latin typeface="Times New Roman"/>
              <a:cs typeface="Times New Roman"/>
            </a:endParaRPr>
          </a:p>
          <a:p>
            <a:pPr marL="151130" marR="5080">
              <a:lnSpc>
                <a:spcPts val="1380"/>
              </a:lnSpc>
              <a:spcBef>
                <a:spcPts val="420"/>
              </a:spcBef>
            </a:pPr>
            <a:r>
              <a:rPr dirty="0" sz="1200" i="1">
                <a:latin typeface="Times New Roman"/>
                <a:cs typeface="Times New Roman"/>
              </a:rPr>
              <a:t>(Validate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all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required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ensure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that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incorrect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empty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inputs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are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not </a:t>
            </a:r>
            <a:r>
              <a:rPr dirty="0" sz="1200" spc="-10" i="1">
                <a:latin typeface="Times New Roman"/>
                <a:cs typeface="Times New Roman"/>
              </a:rPr>
              <a:t>submitted.)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06450" y="9537064"/>
            <a:ext cx="6399530" cy="21590"/>
            <a:chOff x="806450" y="9537064"/>
            <a:chExt cx="6399530" cy="21590"/>
          </a:xfrm>
        </p:grpSpPr>
        <p:sp>
          <p:nvSpPr>
            <p:cNvPr id="27" name="object 27" descr=""/>
            <p:cNvSpPr/>
            <p:nvPr/>
          </p:nvSpPr>
          <p:spPr>
            <a:xfrm>
              <a:off x="806450" y="9537064"/>
              <a:ext cx="6397625" cy="19685"/>
            </a:xfrm>
            <a:custGeom>
              <a:avLst/>
              <a:gdLst/>
              <a:ahLst/>
              <a:cxnLst/>
              <a:rect l="l" t="t" r="r" b="b"/>
              <a:pathLst>
                <a:path w="6397625" h="19684">
                  <a:moveTo>
                    <a:pt x="6397625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7625" y="19685"/>
                  </a:lnTo>
                  <a:lnTo>
                    <a:pt x="639762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02423" y="95384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06500" y="9538423"/>
              <a:ext cx="6399530" cy="17145"/>
            </a:xfrm>
            <a:custGeom>
              <a:avLst/>
              <a:gdLst/>
              <a:ahLst/>
              <a:cxnLst/>
              <a:rect l="l" t="t" r="r" b="b"/>
              <a:pathLst>
                <a:path w="639953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9530" h="17145">
                  <a:moveTo>
                    <a:pt x="6398958" y="0"/>
                  </a:moveTo>
                  <a:lnTo>
                    <a:pt x="6395923" y="0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02423" y="95414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06500" y="955517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6500" y="9555174"/>
              <a:ext cx="6399530" cy="3175"/>
            </a:xfrm>
            <a:custGeom>
              <a:avLst/>
              <a:gdLst/>
              <a:ahLst/>
              <a:cxnLst/>
              <a:rect l="l" t="t" r="r" b="b"/>
              <a:pathLst>
                <a:path w="6399530" h="3175">
                  <a:moveTo>
                    <a:pt x="6398958" y="0"/>
                  </a:moveTo>
                  <a:lnTo>
                    <a:pt x="6395974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5923" y="3048"/>
                  </a:lnTo>
                  <a:lnTo>
                    <a:pt x="6398958" y="3048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150" y="428624"/>
            <a:ext cx="1268095" cy="57124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75" y="528319"/>
            <a:ext cx="1495933" cy="370204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7550" y="514349"/>
            <a:ext cx="1074407" cy="401954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4025" y="495337"/>
            <a:ext cx="996314" cy="434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470" y="655992"/>
            <a:ext cx="996314" cy="4341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275" y="675004"/>
            <a:ext cx="1074407" cy="40195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9228" y="1515224"/>
            <a:ext cx="5196205" cy="492759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300" b="1">
                <a:latin typeface="Times New Roman"/>
                <a:cs typeface="Times New Roman"/>
              </a:rPr>
              <a:t>3.2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Confirmation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Checkbox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Validation:</a:t>
            </a:r>
            <a:endParaRPr sz="13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330"/>
              </a:spcBef>
            </a:pPr>
            <a:r>
              <a:rPr dirty="0" sz="1200" i="1">
                <a:latin typeface="Times New Roman"/>
                <a:cs typeface="Times New Roman"/>
              </a:rPr>
              <a:t>(Ensure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that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declaration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checkbox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selected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before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allowing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submission.)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01369" y="2490469"/>
            <a:ext cx="6402705" cy="20320"/>
            <a:chOff x="801369" y="2490469"/>
            <a:chExt cx="6402705" cy="20320"/>
          </a:xfrm>
        </p:grpSpPr>
        <p:sp>
          <p:nvSpPr>
            <p:cNvPr id="6" name="object 6" descr=""/>
            <p:cNvSpPr/>
            <p:nvPr/>
          </p:nvSpPr>
          <p:spPr>
            <a:xfrm>
              <a:off x="801370" y="2490482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6399581" y="0"/>
                  </a:lnTo>
                  <a:lnTo>
                    <a:pt x="3606" y="0"/>
                  </a:lnTo>
                  <a:lnTo>
                    <a:pt x="558" y="0"/>
                  </a:ln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00899" y="24904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928" y="249048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00899" y="249351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1928" y="25072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1928" y="2507233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89228" y="2749041"/>
            <a:ext cx="6048375" cy="725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3.3.Dynamic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Display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of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Registered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Participants:</a:t>
            </a:r>
            <a:endParaRPr sz="1300">
              <a:latin typeface="Times New Roman"/>
              <a:cs typeface="Times New Roman"/>
            </a:endParaRPr>
          </a:p>
          <a:p>
            <a:pPr marL="20320" marR="5080">
              <a:lnSpc>
                <a:spcPts val="1380"/>
              </a:lnSpc>
              <a:spcBef>
                <a:spcPts val="1225"/>
              </a:spcBef>
            </a:pP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Capture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data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dynamically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submitted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participants table.</a:t>
            </a:r>
            <a:r>
              <a:rPr dirty="0" sz="1200" spc="-1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01369" y="3917949"/>
            <a:ext cx="6402705" cy="20955"/>
            <a:chOff x="801369" y="3917949"/>
            <a:chExt cx="6402705" cy="20955"/>
          </a:xfrm>
        </p:grpSpPr>
        <p:sp>
          <p:nvSpPr>
            <p:cNvPr id="14" name="object 14" descr=""/>
            <p:cNvSpPr/>
            <p:nvPr/>
          </p:nvSpPr>
          <p:spPr>
            <a:xfrm>
              <a:off x="801370" y="391794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00899" y="39188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1928" y="391883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00899" y="39218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1928" y="39356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1928" y="393561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89228" y="4132312"/>
            <a:ext cx="5832475" cy="6680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300" b="1">
                <a:latin typeface="Times New Roman"/>
                <a:cs typeface="Times New Roman"/>
              </a:rPr>
              <a:t>3.4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Prevent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Page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Reload:</a:t>
            </a:r>
            <a:endParaRPr sz="1300">
              <a:latin typeface="Times New Roman"/>
              <a:cs typeface="Times New Roman"/>
            </a:endParaRPr>
          </a:p>
          <a:p>
            <a:pPr marL="109855" marR="5080">
              <a:lnSpc>
                <a:spcPts val="1380"/>
              </a:lnSpc>
              <a:spcBef>
                <a:spcPts val="425"/>
              </a:spcBef>
            </a:pPr>
            <a:r>
              <a:rPr dirty="0" sz="1200" i="1">
                <a:latin typeface="Times New Roman"/>
                <a:cs typeface="Times New Roman"/>
              </a:rPr>
              <a:t>(Use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prevent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default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submission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behavior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update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page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without refreshing.)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01369" y="5281929"/>
            <a:ext cx="6402705" cy="20955"/>
            <a:chOff x="801369" y="5281929"/>
            <a:chExt cx="6402705" cy="20955"/>
          </a:xfrm>
        </p:grpSpPr>
        <p:sp>
          <p:nvSpPr>
            <p:cNvPr id="22" name="object 22" descr=""/>
            <p:cNvSpPr/>
            <p:nvPr/>
          </p:nvSpPr>
          <p:spPr>
            <a:xfrm>
              <a:off x="801370" y="528192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00899" y="52828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1928" y="52828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00899" y="52858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01928" y="52995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01928" y="529958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96848" y="5599556"/>
            <a:ext cx="6243955" cy="525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3.5</a:t>
            </a:r>
            <a:r>
              <a:rPr dirty="0" sz="1300" spc="26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Clear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Form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After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Successful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Submission:</a:t>
            </a:r>
            <a:endParaRPr sz="13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940"/>
              </a:spcBef>
            </a:pPr>
            <a:r>
              <a:rPr dirty="0" sz="1200" spc="-10" i="1">
                <a:latin typeface="Times New Roman"/>
                <a:cs typeface="Times New Roman"/>
              </a:rPr>
              <a:t>(Automatically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reset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after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successful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while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keeping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data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intact.)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01369" y="6606540"/>
            <a:ext cx="6402705" cy="20955"/>
            <a:chOff x="801369" y="6606540"/>
            <a:chExt cx="6402705" cy="20955"/>
          </a:xfrm>
        </p:grpSpPr>
        <p:sp>
          <p:nvSpPr>
            <p:cNvPr id="30" name="object 30" descr=""/>
            <p:cNvSpPr/>
            <p:nvPr/>
          </p:nvSpPr>
          <p:spPr>
            <a:xfrm>
              <a:off x="801370" y="6606552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00899" y="660742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1928" y="660744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200899" y="661047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1928" y="662419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01928" y="662419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49604" y="6797420"/>
            <a:ext cx="6219825" cy="572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25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3.6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Display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Success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Message:</a:t>
            </a:r>
            <a:endParaRPr sz="1300">
              <a:latin typeface="Times New Roman"/>
              <a:cs typeface="Times New Roman"/>
            </a:endParaRPr>
          </a:p>
          <a:p>
            <a:pPr marL="149225" marR="5080">
              <a:lnSpc>
                <a:spcPts val="1380"/>
              </a:lnSpc>
              <a:spcBef>
                <a:spcPts val="60"/>
              </a:spcBef>
            </a:pPr>
            <a:r>
              <a:rPr dirty="0" sz="1200" i="1">
                <a:latin typeface="Times New Roman"/>
                <a:cs typeface="Times New Roman"/>
              </a:rPr>
              <a:t>(Show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confirmation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message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after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successful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remove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automatically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after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few </a:t>
            </a:r>
            <a:r>
              <a:rPr dirty="0" sz="1200" spc="-10" i="1">
                <a:latin typeface="Times New Roman"/>
                <a:cs typeface="Times New Roman"/>
              </a:rPr>
              <a:t>seconds.)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801369" y="7851775"/>
            <a:ext cx="6402705" cy="20955"/>
            <a:chOff x="801369" y="7851775"/>
            <a:chExt cx="6402705" cy="20955"/>
          </a:xfrm>
        </p:grpSpPr>
        <p:sp>
          <p:nvSpPr>
            <p:cNvPr id="38" name="object 38" descr=""/>
            <p:cNvSpPr/>
            <p:nvPr/>
          </p:nvSpPr>
          <p:spPr>
            <a:xfrm>
              <a:off x="801370" y="785177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200899" y="78529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01928" y="78529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200899" y="78559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01928" y="78696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01928" y="78696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796848" y="8129777"/>
            <a:ext cx="5430520" cy="549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3.7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Input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Field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Feedback:</a:t>
            </a:r>
            <a:endParaRPr sz="13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1130"/>
              </a:spcBef>
            </a:pPr>
            <a:r>
              <a:rPr dirty="0" sz="1200" i="1">
                <a:latin typeface="Times New Roman"/>
                <a:cs typeface="Times New Roman"/>
              </a:rPr>
              <a:t>(Provide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visual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feedback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highlighting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valid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green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invalid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red.)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01369" y="9290050"/>
            <a:ext cx="6402705" cy="21590"/>
            <a:chOff x="801369" y="9290050"/>
            <a:chExt cx="6402705" cy="21590"/>
          </a:xfrm>
        </p:grpSpPr>
        <p:sp>
          <p:nvSpPr>
            <p:cNvPr id="46" name="object 46" descr=""/>
            <p:cNvSpPr/>
            <p:nvPr/>
          </p:nvSpPr>
          <p:spPr>
            <a:xfrm>
              <a:off x="801370" y="9290062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07"/>
                  </a:lnTo>
                  <a:lnTo>
                    <a:pt x="6400800" y="20307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200899" y="929157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01928" y="9291586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200899" y="929462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01928" y="93083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01928" y="930835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259" y="503554"/>
            <a:ext cx="1495933" cy="369697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503554"/>
            <a:ext cx="1004798" cy="566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644562"/>
            <a:ext cx="996314" cy="4341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775" y="665479"/>
            <a:ext cx="1074407" cy="40195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96848" y="1586229"/>
            <a:ext cx="5748655" cy="69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3.8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Optional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Enhancements: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10"/>
              </a:spcBef>
            </a:pPr>
            <a:r>
              <a:rPr dirty="0" sz="1200" i="1">
                <a:latin typeface="Times New Roman"/>
                <a:cs typeface="Times New Roman"/>
              </a:rPr>
              <a:t>(Implement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additional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features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such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participant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count,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delete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row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option,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duplicate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email </a:t>
            </a:r>
            <a:r>
              <a:rPr dirty="0" sz="1200" i="1">
                <a:latin typeface="Times New Roman"/>
                <a:cs typeface="Times New Roman"/>
              </a:rPr>
              <a:t>prevention,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summary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display.)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01369" y="2663824"/>
            <a:ext cx="6402705" cy="20320"/>
            <a:chOff x="801369" y="2663824"/>
            <a:chExt cx="6402705" cy="20320"/>
          </a:xfrm>
        </p:grpSpPr>
        <p:sp>
          <p:nvSpPr>
            <p:cNvPr id="6" name="object 6" descr=""/>
            <p:cNvSpPr/>
            <p:nvPr/>
          </p:nvSpPr>
          <p:spPr>
            <a:xfrm>
              <a:off x="801370" y="266382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00899" y="26642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928" y="266420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00899" y="266725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1928" y="26809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1928" y="268096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48080" y="2995930"/>
            <a:ext cx="6297930" cy="71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4.JavaScript</a:t>
            </a:r>
            <a:r>
              <a:rPr dirty="0" sz="1400" spc="-4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Concepts</a:t>
            </a:r>
            <a:r>
              <a:rPr dirty="0" sz="1400" spc="-5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3B78D7"/>
                </a:solidFill>
                <a:latin typeface="Times New Roman"/>
                <a:cs typeface="Times New Roman"/>
              </a:rPr>
              <a:t>Used:</a:t>
            </a:r>
            <a:endParaRPr sz="1400">
              <a:latin typeface="Times New Roman"/>
              <a:cs typeface="Times New Roman"/>
            </a:endParaRPr>
          </a:p>
          <a:p>
            <a:pPr marL="60960" marR="5080" indent="38100">
              <a:lnSpc>
                <a:spcPts val="139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(Mention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concepts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applied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this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assignment,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such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DOM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selection,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handling, </a:t>
            </a:r>
            <a:r>
              <a:rPr dirty="0" sz="1200" i="1">
                <a:latin typeface="Times New Roman"/>
                <a:cs typeface="Times New Roman"/>
              </a:rPr>
              <a:t>validation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logic,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dynamic</a:t>
            </a:r>
            <a:r>
              <a:rPr dirty="0" sz="1200" spc="-4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element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creation,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conditional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statements,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setTimeout().)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01369" y="4133214"/>
            <a:ext cx="6402705" cy="20320"/>
            <a:chOff x="801369" y="4133214"/>
            <a:chExt cx="6402705" cy="20320"/>
          </a:xfrm>
        </p:grpSpPr>
        <p:sp>
          <p:nvSpPr>
            <p:cNvPr id="14" name="object 14" descr=""/>
            <p:cNvSpPr/>
            <p:nvPr/>
          </p:nvSpPr>
          <p:spPr>
            <a:xfrm>
              <a:off x="801370" y="413322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00899" y="41337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1928" y="41337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00899" y="41367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1928" y="41504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1928" y="41504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89228" y="4335906"/>
            <a:ext cx="6179185" cy="542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5.</a:t>
            </a:r>
            <a:r>
              <a:rPr dirty="0" sz="1400" spc="-3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Implementation</a:t>
            </a:r>
            <a:r>
              <a:rPr dirty="0" sz="1400" spc="-3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Steps:</a:t>
            </a:r>
            <a:endParaRPr sz="140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940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step-by-</a:t>
            </a:r>
            <a:r>
              <a:rPr dirty="0" sz="1200" i="1">
                <a:latin typeface="Times New Roman"/>
                <a:cs typeface="Times New Roman"/>
              </a:rPr>
              <a:t>step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process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followed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functionality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page.)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01369" y="5309869"/>
            <a:ext cx="6402705" cy="20320"/>
            <a:chOff x="801369" y="5309869"/>
            <a:chExt cx="6402705" cy="20320"/>
          </a:xfrm>
        </p:grpSpPr>
        <p:sp>
          <p:nvSpPr>
            <p:cNvPr id="22" name="object 22" descr=""/>
            <p:cNvSpPr/>
            <p:nvPr/>
          </p:nvSpPr>
          <p:spPr>
            <a:xfrm>
              <a:off x="801370" y="530986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00899" y="53102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1928" y="531025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00899" y="531329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01928" y="53270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01928" y="532701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92276" y="5337174"/>
            <a:ext cx="6137275" cy="717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6.Output:</a:t>
            </a:r>
            <a:endParaRPr sz="1400">
              <a:latin typeface="Times New Roman"/>
              <a:cs typeface="Times New Roman"/>
            </a:endParaRPr>
          </a:p>
          <a:p>
            <a:pPr marL="17145" marR="5080">
              <a:lnSpc>
                <a:spcPts val="1380"/>
              </a:lnSpc>
              <a:spcBef>
                <a:spcPts val="1040"/>
              </a:spcBef>
            </a:pPr>
            <a:r>
              <a:rPr dirty="0" sz="1200" i="1">
                <a:latin typeface="Times New Roman"/>
                <a:cs typeface="Times New Roman"/>
              </a:rPr>
              <a:t>(Attach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screenshots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showing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validation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messages,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successful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message,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dynamically </a:t>
            </a:r>
            <a:r>
              <a:rPr dirty="0" sz="1200" i="1">
                <a:latin typeface="Times New Roman"/>
                <a:cs typeface="Times New Roman"/>
              </a:rPr>
              <a:t>updated</a:t>
            </a:r>
            <a:r>
              <a:rPr dirty="0" sz="1200" spc="-5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participants</a:t>
            </a:r>
            <a:r>
              <a:rPr dirty="0" sz="1200" spc="-5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table.)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01369" y="6473824"/>
            <a:ext cx="6402705" cy="20955"/>
            <a:chOff x="801369" y="6473824"/>
            <a:chExt cx="6402705" cy="20955"/>
          </a:xfrm>
        </p:grpSpPr>
        <p:sp>
          <p:nvSpPr>
            <p:cNvPr id="30" name="object 30" descr=""/>
            <p:cNvSpPr/>
            <p:nvPr/>
          </p:nvSpPr>
          <p:spPr>
            <a:xfrm>
              <a:off x="801370" y="647382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00899" y="647484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1928" y="64748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200899" y="647788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1928" y="64916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01928" y="64916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89228" y="6661784"/>
            <a:ext cx="5911850" cy="716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7.Learning</a:t>
            </a:r>
            <a:r>
              <a:rPr dirty="0" sz="1400" spc="-4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Outcome:</a:t>
            </a:r>
            <a:endParaRPr sz="1400">
              <a:latin typeface="Times New Roman"/>
              <a:cs typeface="Times New Roman"/>
            </a:endParaRPr>
          </a:p>
          <a:p>
            <a:pPr marL="109855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skills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gained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DOM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manipulation,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validation,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building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interactive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web </a:t>
            </a:r>
            <a:r>
              <a:rPr dirty="0" sz="1200" i="1">
                <a:latin typeface="Times New Roman"/>
                <a:cs typeface="Times New Roman"/>
              </a:rPr>
              <a:t>applications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JavaScript.)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801369" y="7811769"/>
            <a:ext cx="6402705" cy="20955"/>
            <a:chOff x="801369" y="7811769"/>
            <a:chExt cx="6402705" cy="20955"/>
          </a:xfrm>
        </p:grpSpPr>
        <p:sp>
          <p:nvSpPr>
            <p:cNvPr id="38" name="object 38" descr=""/>
            <p:cNvSpPr/>
            <p:nvPr/>
          </p:nvSpPr>
          <p:spPr>
            <a:xfrm>
              <a:off x="801370" y="781176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200899" y="78129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01928" y="781292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200899" y="781596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01928" y="782967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01928" y="782968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792276" y="8018526"/>
            <a:ext cx="641413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8.</a:t>
            </a:r>
            <a:r>
              <a:rPr dirty="0" sz="1400" spc="-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Conclusion:</a:t>
            </a:r>
            <a:endParaRPr sz="140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1235"/>
              </a:spcBef>
            </a:pPr>
            <a:r>
              <a:rPr dirty="0" sz="1200" i="1">
                <a:latin typeface="Times New Roman"/>
                <a:cs typeface="Times New Roman"/>
              </a:rPr>
              <a:t>(Summarize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how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JavaScript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successfully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enhanced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application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interactivity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dynamic behavior.)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9550" y="577849"/>
            <a:ext cx="1004798" cy="566420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775" y="615949"/>
            <a:ext cx="1495933" cy="3702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Senthur Siva Sakthivel C</dc:creator>
  <dcterms:created xsi:type="dcterms:W3CDTF">2026-03-04T05:00:28Z</dcterms:created>
  <dcterms:modified xsi:type="dcterms:W3CDTF">2026-03-04T05:00:28Z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2026-03-04T00:00:00Z</vt:filetime>
  </property>
  <property fmtid="{D5CDD505-2E9C-101B-9397-08002B2CF9AE}" pid="5" name="Producer">
    <vt:lpwstr>3-Heights(TM) PDF Security Shell 4.8.25.2 (http://www.pdf-tools.com)</vt:lpwstr>
  </property>
</Properties>
</file>